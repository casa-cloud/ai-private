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5303520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</a:rPr>
              <a:t>Agent Engineering
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063240"/>
            <a:ext cx="566928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From prompt → context → loop → graph, supported by harness engineering.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547872"/>
            <a:ext cx="141732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234440"/>
            <a:ext cx="4800600" cy="425196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481328"/>
            <a:ext cx="3200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58E8FF"/>
                </a:solidFill>
              </a:rPr>
              <a:t>Journey in one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389120"/>
            <a:ext cx="1234440" cy="420624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Prompt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607808" y="405079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16952" y="3886200"/>
            <a:ext cx="1234440" cy="420624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Context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229600" y="3547872"/>
            <a:ext cx="219456" cy="320040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38744" y="3383279"/>
            <a:ext cx="1234440" cy="420624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Loop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851392" y="304495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0536" y="2880359"/>
            <a:ext cx="1234440" cy="420624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Graph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473184" y="254203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82328" y="2377439"/>
            <a:ext cx="1234440" cy="420624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074920"/>
            <a:ext cx="39319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Each step adds more system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The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Each stage moves more intelligence from one prompt into the surrounding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47088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Prompt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47088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should I tell the model?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14016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Context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14016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information should the model see now?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80944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80944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Loop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80944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How does the agent keep working?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47872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47872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Graph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547872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Which paths can the workflow take?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14800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Harness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114800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system controls the agent?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508760"/>
            <a:ext cx="4069080" cy="40690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783080"/>
            <a:ext cx="274320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58E8FF"/>
                </a:solidFill>
              </a:rPr>
              <a:t>From prompt to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2148840"/>
            <a:ext cx="2240280" cy="310896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Prompt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" y="247802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469880" y="2240280"/>
            <a:ext cx="128016" cy="128016"/>
          </a:xfrm>
          <a:prstGeom prst="ellipse">
            <a:avLst/>
          </a:prstGeom>
          <a:solidFill>
            <a:srgbClr val="7E66FF"/>
          </a:solidFill>
          <a:ln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73568" y="2651760"/>
            <a:ext cx="2240280" cy="310896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Context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98280" y="298094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469880" y="2743200"/>
            <a:ext cx="128016" cy="128016"/>
          </a:xfrm>
          <a:prstGeom prst="ellipse">
            <a:avLst/>
          </a:prstGeom>
          <a:solidFill>
            <a:srgbClr val="427FFF"/>
          </a:solidFill>
          <a:ln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8" y="3154680"/>
            <a:ext cx="2240280" cy="310896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Loop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98280" y="348386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469880" y="3246120"/>
            <a:ext cx="128016" cy="128016"/>
          </a:xfrm>
          <a:prstGeom prst="ellipse">
            <a:avLst/>
          </a:prstGeom>
          <a:solidFill>
            <a:srgbClr val="31BEC9"/>
          </a:solidFill>
          <a:ln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73568" y="3657600"/>
            <a:ext cx="2240280" cy="310896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Graph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98280" y="398678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469880" y="3749040"/>
            <a:ext cx="128016" cy="128016"/>
          </a:xfrm>
          <a:prstGeom prst="ellipse">
            <a:avLst/>
          </a:prstGeom>
          <a:solidFill>
            <a:srgbClr val="3AA6F5"/>
          </a:solidFill>
          <a:ln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73568" y="4160520"/>
            <a:ext cx="2240280" cy="310896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Harness</a:t>
            </a:r>
          </a:p>
        </p:txBody>
      </p:sp>
      <p:sp>
        <p:nvSpPr>
          <p:cNvPr id="40" name="Oval 39"/>
          <p:cNvSpPr/>
          <p:nvPr/>
        </p:nvSpPr>
        <p:spPr>
          <a:xfrm>
            <a:off x="10469880" y="4251960"/>
            <a:ext cx="128016" cy="128016"/>
          </a:xfrm>
          <a:prstGeom prst="ellipse">
            <a:avLst/>
          </a:prstGeom>
          <a:solidFill>
            <a:srgbClr val="52D2A4"/>
          </a:solidFill>
          <a:ln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983480"/>
            <a:ext cx="292608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Harness supports all stages.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806440"/>
            <a:ext cx="10287000" cy="384048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888736"/>
            <a:ext cx="97840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F5F8FF"/>
                </a:solidFill>
              </a:rPr>
              <a:t>Harness engineering is the outer layer that supports all stages — not just the final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should I tell the model?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instructions that guide an LLM toward the desired output.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wording, examples, constraints, roles, and output format.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Best for improving a single model interaction.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should I tell the model?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One-shot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429000"/>
            <a:ext cx="96012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3429000"/>
            <a:ext cx="960120" cy="502920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3429000"/>
            <a:ext cx="960120" cy="502920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3264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23576" y="3429000"/>
            <a:ext cx="960120" cy="502920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389120"/>
            <a:ext cx="411480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The prompt carries most of the instruction and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information should the model see now?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what information the model should see at a given moment.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retrieved data, conversation history, user state, and tool results.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giving the model the right information, not just the right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information should the model see now?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Context assembly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246120"/>
            <a:ext cx="1051560" cy="56692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800" b="1">
                <a:solidFill>
                  <a:srgbClr val="F5F8FF"/>
                </a:solidFill>
              </a:rPr>
              <a:t>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514600"/>
            <a:ext cx="1143000" cy="384048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Prompt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2514600"/>
            <a:ext cx="1143000" cy="38404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526280"/>
            <a:ext cx="1143000" cy="38404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4526280"/>
            <a:ext cx="1143000" cy="384048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983480"/>
            <a:ext cx="1143000" cy="384048"/>
          </a:xfrm>
          <a:prstGeom prst="roundRect">
            <a:avLst/>
          </a:prstGeom>
          <a:solidFill>
            <a:srgbClr val="FFB152"/>
          </a:solidFill>
          <a:ln w="12700"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User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440680"/>
            <a:ext cx="411480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Good answers come from selecting the right inputs.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46720" y="2706624"/>
            <a:ext cx="411480" cy="64922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509760" y="2706624"/>
            <a:ext cx="411480" cy="64922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046720" y="3703320"/>
            <a:ext cx="411480" cy="101498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509760" y="3703320"/>
            <a:ext cx="502920" cy="101498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892540" y="3813048"/>
            <a:ext cx="91440" cy="1170432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Loop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How does the agent keep working?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how an agent repeatedly thinks, acts, observes, and continues.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tool use, retries, stopping conditions, and state updates.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Turns a one-shot LLM call into an iterative agent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How does the agent keep working?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Iterative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788920"/>
            <a:ext cx="123444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600" b="1">
                <a:solidFill>
                  <a:srgbClr val="F5F8FF"/>
                </a:solidFill>
              </a:rPr>
              <a:t>Think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788920"/>
            <a:ext cx="1234440" cy="502920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600" b="1">
                <a:solidFill>
                  <a:srgbClr val="F5F8FF"/>
                </a:solidFill>
              </a:rPr>
              <a:t>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4343400"/>
            <a:ext cx="1234440" cy="502920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Observe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343400"/>
            <a:ext cx="1234440" cy="502920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880360"/>
            <a:ext cx="5029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8792" y="3520440"/>
            <a:ext cx="256032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434840"/>
            <a:ext cx="5029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20440"/>
            <a:ext cx="256032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212080"/>
            <a:ext cx="3931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Repeat until goal is done or stop condition is reached.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Graph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Which paths can the workflow take?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the states, branches, and transitions of an agent workflow.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Supports multiple paths, parallel steps, sub-agents, approvals, and retries.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the structure and topology of agent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Which paths can the workflow take?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Workflow topology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818120" y="2697480"/>
            <a:ext cx="1143000" cy="822960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0" y="2697480"/>
            <a:ext cx="1143000" cy="822960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3977639"/>
            <a:ext cx="1143000" cy="731521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961120" y="3977639"/>
            <a:ext cx="1143000" cy="731521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2331720"/>
            <a:ext cx="1207008" cy="475488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Planner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520440"/>
            <a:ext cx="1188720" cy="47548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3520440"/>
            <a:ext cx="1188720" cy="47548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572000"/>
            <a:ext cx="1207008" cy="47548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Writer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349240"/>
            <a:ext cx="3931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Multiple states and paths, not one simple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system controls the agent?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the runtime system around the agent that controls how it operates.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tools, memory, permissions, observability, guardrails, checkpoints, and recovery.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Makes agentic workflows reliable, manageable, and production-ready.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system controls the agent?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Outer runtime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423160"/>
            <a:ext cx="4160520" cy="2514600"/>
          </a:xfrm>
          <a:prstGeom prst="roundRect">
            <a:avLst/>
          </a:prstGeom>
          <a:noFill/>
          <a:ln w="25400">
            <a:solidFill>
              <a:srgbClr val="58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615184"/>
            <a:ext cx="10972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58E8FF"/>
                </a:solidFill>
              </a:rPr>
              <a:t>Harness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200400"/>
            <a:ext cx="118872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880360"/>
            <a:ext cx="777240" cy="38404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93808" y="2880360"/>
            <a:ext cx="868680" cy="38404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4069080"/>
            <a:ext cx="1051560" cy="38404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100" b="1">
                <a:solidFill>
                  <a:srgbClr val="F5F8FF"/>
                </a:solidFill>
              </a:rPr>
              <a:t>Guardrails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069080"/>
            <a:ext cx="1143000" cy="384048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57800"/>
            <a:ext cx="40233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>
                <a:solidFill>
                  <a:srgbClr val="C4CEE0"/>
                </a:solidFill>
              </a:rPr>
              <a:t>Tools, memory, guardrails, approval and observation surround the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4069080"/>
            <a:ext cx="1005840" cy="384048"/>
          </a:xfrm>
          <a:prstGeom prst="roundRect">
            <a:avLst/>
          </a:prstGeom>
          <a:solidFill>
            <a:srgbClr val="5ED2AA"/>
          </a:solidFill>
          <a:ln w="1270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MCP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601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standard connector layer between AI apps and external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389888"/>
            <a:ext cx="150876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074920" cy="3749039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Exposes tools, resources and prompts through a common protocol.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461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278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Lets the AI app discover what actions are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605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422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Connects external systems without custom logic for every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7E1FF"/>
                </a:solidFill>
              </a:rPr>
              <a:t>Core idea: one protocol for tools and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349240" cy="425196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4389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7E1FF"/>
                </a:solidFill>
              </a:rPr>
              <a:t>MCP server concept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971800"/>
            <a:ext cx="1097280" cy="77724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5F7FA"/>
                </a:solidFill>
              </a:rPr>
              <a:t>AI</a:t>
            </a:r>
          </a:p>
          <a:p>
            <a:pPr algn="ctr"/>
            <a:r>
              <a:rPr sz="1700" b="1">
                <a:solidFill>
                  <a:srgbClr val="F5F7FA"/>
                </a:solidFill>
              </a:rPr>
              <a:t>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788920"/>
            <a:ext cx="1325880" cy="1143000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5F7FA"/>
                </a:solidFill>
              </a:rPr>
              <a:t>MCP</a:t>
            </a:r>
          </a:p>
          <a:p>
            <a:pPr algn="ctr"/>
            <a:r>
              <a:rPr sz="1700" b="1">
                <a:solidFill>
                  <a:srgbClr val="F5F7FA"/>
                </a:solidFill>
              </a:rPr>
              <a:t>Server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26679" y="3355848"/>
            <a:ext cx="502921" cy="0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555480" y="2880360"/>
            <a:ext cx="502920" cy="475488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55480" y="3355848"/>
            <a:ext cx="502920" cy="210312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3355848"/>
            <a:ext cx="502920" cy="896112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58400" y="2606040"/>
            <a:ext cx="1170432" cy="512064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291840"/>
            <a:ext cx="1170432" cy="512064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Resources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977639"/>
            <a:ext cx="1170432" cy="512064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74920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6DD"/>
                </a:solidFill>
              </a:rPr>
              <a:t>The AI app talks to MCP; MCP talks to external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ctr"/>
            <a:r>
              <a:rPr sz="800" b="0">
                <a:solidFill>
                  <a:srgbClr val="C4CEE0"/>
                </a:solidFill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MCP Server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60120"/>
            <a:ext cx="7315200" cy="256032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C4CEE0"/>
                </a:solidFill>
              </a:rPr>
              <a:t>Discovery → selection → tool call → execution → structured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389888"/>
            <a:ext cx="1508760" cy="27432"/>
          </a:xfrm>
          <a:prstGeom prst="rect">
            <a:avLst/>
          </a:prstGeom>
          <a:solidFill>
            <a:srgbClr val="57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0927080" cy="443484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3657600" cy="292608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57E1FF"/>
                </a:solidFill>
              </a:rPr>
              <a:t>Runtime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743200"/>
            <a:ext cx="1234440" cy="786384"/>
          </a:xfrm>
          <a:prstGeom prst="roundRect">
            <a:avLst/>
          </a:prstGeom>
          <a:solidFill>
            <a:srgbClr val="7868FF"/>
          </a:solidFill>
          <a:ln w="1524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Discover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743200"/>
            <a:ext cx="1234440" cy="786384"/>
          </a:xfrm>
          <a:prstGeom prst="roundRect">
            <a:avLst/>
          </a:prstGeom>
          <a:solidFill>
            <a:srgbClr val="467CFF"/>
          </a:solidFill>
          <a:ln w="15240">
            <a:solidFill>
              <a:srgbClr val="4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Choose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549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0280" y="3136392"/>
            <a:ext cx="73152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92040" y="2743200"/>
            <a:ext cx="1234440" cy="786384"/>
          </a:xfrm>
          <a:prstGeom prst="roundRect">
            <a:avLst/>
          </a:prstGeom>
          <a:solidFill>
            <a:srgbClr val="31BDC8"/>
          </a:solidFill>
          <a:ln w="1524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Call MCP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573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0624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2743200"/>
            <a:ext cx="1234440" cy="786384"/>
          </a:xfrm>
          <a:prstGeom prst="roundRect">
            <a:avLst/>
          </a:prstGeom>
          <a:solidFill>
            <a:srgbClr val="5ED2AA"/>
          </a:solidFill>
          <a:ln w="1524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Execute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597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32520" y="2743200"/>
            <a:ext cx="1234440" cy="786384"/>
          </a:xfrm>
          <a:prstGeom prst="roundRect">
            <a:avLst/>
          </a:prstGeom>
          <a:solidFill>
            <a:srgbClr val="FFB84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Return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4672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51560" y="4160520"/>
            <a:ext cx="9418320" cy="329184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MCP standardizes how the agent sees tools, reads resources, invokes actions, and receives structured output.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4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Client /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06040" y="5175504"/>
            <a:ext cx="73152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3756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MCP Protocol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6320" y="5175504"/>
            <a:ext cx="68580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3212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MCP Server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5175504"/>
            <a:ext cx="96012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0100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External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327648"/>
            <a:ext cx="5852160" cy="256032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57E1FF"/>
                </a:solidFill>
              </a:rPr>
              <a:t>Good for: files, databases, APIs, GitHub, Slack, cloud systems and internal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652760" y="182880"/>
            <a:ext cx="2011680" cy="178308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1045952" y="713232"/>
            <a:ext cx="1417320" cy="1261872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</a:rPr>
              <a:t>Agent Harness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96112"/>
            <a:ext cx="5029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8C6DD"/>
                </a:solidFill>
              </a:rPr>
              <a:t>How an agent harness coordinates reasoning, tools, state, controls, and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234440"/>
            <a:ext cx="164592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4760" y="182880"/>
            <a:ext cx="3246120" cy="60350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/>
            <a:r>
              <a:rPr sz="1600" b="1">
                <a:solidFill>
                  <a:srgbClr val="F5F7FA"/>
                </a:solidFill>
              </a:rPr>
              <a:t>USER / GOAL</a:t>
            </a:r>
          </a:p>
          <a:p>
            <a:pPr algn="ctr"/>
            <a:r>
              <a:rPr sz="1080">
                <a:solidFill>
                  <a:srgbClr val="B8C6DD"/>
                </a:solidFill>
              </a:rPr>
              <a:t>Deploy this architecture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13248" y="786384"/>
            <a:ext cx="0" cy="630936"/>
          </a:xfrm>
          <a:prstGeom prst="line">
            <a:avLst/>
          </a:prstGeom>
          <a:ln w="2794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" y="1417320"/>
            <a:ext cx="11247120" cy="4315968"/>
          </a:xfrm>
          <a:prstGeom prst="roundRect">
            <a:avLst/>
          </a:prstGeom>
          <a:solidFill>
            <a:srgbClr val="0B1E3F"/>
          </a:solidFill>
          <a:ln w="2286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536192"/>
            <a:ext cx="3291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</a:rPr>
              <a:t>AGENT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8C6DD"/>
                </a:solidFill>
              </a:rPr>
              <a:t>Plan. Use tools. Take action. Achieve the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3852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INPUT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intent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goal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4436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CONTEXT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prompts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architecture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5020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MEMORY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working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long-term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past 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80744" y="2816352"/>
            <a:ext cx="0" cy="128016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80744" y="3822191"/>
            <a:ext cx="0" cy="128017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58568" y="2377440"/>
            <a:ext cx="89611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58568" y="3383280"/>
            <a:ext cx="48463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58568" y="4389120"/>
            <a:ext cx="107899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154680" y="1938528"/>
            <a:ext cx="2240280" cy="950976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REASONING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LLM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planning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tool selection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re-planning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70248" y="2889504"/>
            <a:ext cx="0" cy="155448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606040" y="3035808"/>
            <a:ext cx="3794760" cy="1444752"/>
          </a:xfrm>
          <a:prstGeom prst="roundRect">
            <a:avLst/>
          </a:prstGeom>
          <a:solidFill>
            <a:srgbClr val="0F2245"/>
          </a:solidFill>
          <a:ln w="2032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3172968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EXECUTION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Observe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37560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547872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Reason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50792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61104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Plan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64024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74336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Act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77256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87568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Evaluate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77256" y="3895344"/>
            <a:ext cx="0" cy="164592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337560" y="4059936"/>
            <a:ext cx="2139696" cy="0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337560" y="3895344"/>
            <a:ext cx="0" cy="164592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94760" y="4160520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0">
                <a:solidFill>
                  <a:srgbClr val="B8C6DD"/>
                </a:solidFill>
              </a:rPr>
              <a:t>continue / stop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993392"/>
            <a:ext cx="1993392" cy="100584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TOOLS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Bicep / Terraform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Azure CLI / kubectl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APIs / DB / Search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files / code execution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3493008"/>
            <a:ext cx="1993392" cy="89611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STATE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workflow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resources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checkpoints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0" y="3685032"/>
            <a:ext cx="1481327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82127" y="2505456"/>
            <a:ext cx="0" cy="1179576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882127" y="2505456"/>
            <a:ext cx="438913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882127" y="3685032"/>
            <a:ext cx="438913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58368" y="4956048"/>
            <a:ext cx="150876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4C7FFF"/>
                </a:solidFill>
              </a:rPr>
              <a:t>GUARDRAILS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RBAC • secrets • approvals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31720" y="4956048"/>
            <a:ext cx="155448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56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56C98F"/>
                </a:solidFill>
              </a:rPr>
              <a:t>VALIDATION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rules • quality • success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14215" y="4956048"/>
            <a:ext cx="155448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E2A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E2AE3B"/>
                </a:solidFill>
              </a:rPr>
              <a:t>RECOVERY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retry • rollback • resume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4956048"/>
            <a:ext cx="182880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B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B08BFF"/>
                </a:solidFill>
              </a:rPr>
              <a:t>HUMAN REVIEW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clarify • approve • override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4956048"/>
            <a:ext cx="182880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58A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58A8F5"/>
                </a:solidFill>
              </a:rPr>
              <a:t>OBSERVABILITY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logs • traces • metrics • cost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97280" y="4846320"/>
            <a:ext cx="8915400" cy="0"/>
          </a:xfrm>
          <a:prstGeom prst="line">
            <a:avLst/>
          </a:prstGeom>
          <a:ln w="2159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413248" y="4480560"/>
            <a:ext cx="0" cy="365760"/>
          </a:xfrm>
          <a:prstGeom prst="line">
            <a:avLst/>
          </a:prstGeom>
          <a:ln w="2159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49039" y="5989320"/>
            <a:ext cx="3520440" cy="50292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700" b="1">
                <a:solidFill>
                  <a:srgbClr val="F5F7FA"/>
                </a:solidFill>
              </a:rPr>
              <a:t>OUTPUT</a:t>
            </a:r>
          </a:p>
          <a:p>
            <a:pPr algn="ctr"/>
            <a:r>
              <a:rPr sz="919">
                <a:solidFill>
                  <a:srgbClr val="B8C6DD"/>
                </a:solidFill>
              </a:rPr>
              <a:t>artifacts • deployment result • summary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13248" y="5733288"/>
            <a:ext cx="0" cy="256032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064240" y="6400800"/>
            <a:ext cx="548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A2A: Agent-to-Agent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protocol pattern where one AI agent delegates work to another specialist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6916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4434840" cy="379476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Agents discover each other and understand capabilities.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73552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55264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A lead agent sends a task, context, constraints and expected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9768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7939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Specialist agents return progress, results or ask for clarification.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7E1FF"/>
                </a:solidFill>
              </a:rPr>
              <a:t>Core idea: MCP connects agents to tools; A2A connects agents to agents.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1691640"/>
            <a:ext cx="6172200" cy="45262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193852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7E1FF"/>
                </a:solidFill>
              </a:rPr>
              <a:t>How A2A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788920"/>
            <a:ext cx="1234440" cy="86868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A"/>
                </a:solidFill>
              </a:rPr>
              <a:t>Lead</a:t>
            </a:r>
          </a:p>
          <a:p>
            <a:pPr algn="ctr"/>
            <a:r>
              <a:rPr sz="150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514600"/>
            <a:ext cx="1554480" cy="1417320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A"/>
                </a:solidFill>
              </a:rPr>
              <a:t>A2A</a:t>
            </a:r>
          </a:p>
          <a:p>
            <a:pPr algn="ctr"/>
            <a:r>
              <a:rPr sz="1500" b="1">
                <a:solidFill>
                  <a:srgbClr val="F5F7FA"/>
                </a:solidFill>
              </a:rPr>
              <a:t>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194560"/>
            <a:ext cx="1417320" cy="640080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Research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3154680"/>
            <a:ext cx="1417320" cy="640080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Code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4114800"/>
            <a:ext cx="1417320" cy="640080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Review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148072"/>
            <a:ext cx="2011680" cy="347472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5F7FA"/>
                </a:solidFill>
              </a:rPr>
              <a:t>Progress + result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315968"/>
            <a:ext cx="1170432" cy="347472"/>
          </a:xfrm>
          <a:prstGeom prst="roundRect">
            <a:avLst/>
          </a:prstGeom>
          <a:solidFill>
            <a:srgbClr val="F65F76"/>
          </a:solidFill>
          <a:ln w="12700">
            <a:solidFill>
              <a:srgbClr val="F6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F7FA"/>
                </a:solidFill>
              </a:rPr>
              <a:t>Task +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4315968"/>
            <a:ext cx="1600200" cy="347472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F7FA"/>
                </a:solidFill>
              </a:rPr>
              <a:t>Delegate / negotiate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86600" y="3227832"/>
            <a:ext cx="365760" cy="0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006840" y="2514600"/>
            <a:ext cx="640080" cy="713232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06840" y="3227832"/>
            <a:ext cx="640080" cy="246888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06840" y="3227832"/>
            <a:ext cx="640080" cy="1207008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126480" y="3657600"/>
            <a:ext cx="182880" cy="658368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93992" y="4489704"/>
            <a:ext cx="475488" cy="0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47888" y="3931920"/>
            <a:ext cx="0" cy="384048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0149840" y="4754880"/>
            <a:ext cx="201168" cy="393192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52160" y="5687568"/>
            <a:ext cx="5074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8C6DD"/>
                </a:solidFill>
              </a:rPr>
              <a:t>Each agent can remain independent, use its own tools, and return structured results to the lead agent.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Agent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discoverable JSON profile that tells other agents how to call this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64208"/>
            <a:ext cx="3154680" cy="15544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3774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57E1FF"/>
                </a:solidFill>
              </a:rPr>
              <a:t>What is an Agent Card?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248716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Public contract: name, endpoint, request shape</a:t>
            </a:r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Exposed from a .well-known URL for discovery</a:t>
            </a:r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Tells a lead agent how to call this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3632" y="1664208"/>
            <a:ext cx="6903720" cy="15544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874519"/>
            <a:ext cx="292608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57E1FF"/>
                </a:solidFill>
              </a:rPr>
              <a:t>Discovery + Invocation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221992"/>
            <a:ext cx="1005840" cy="45720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5F7FA"/>
                </a:solidFill>
              </a:rPr>
              <a:t>Lead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2112264"/>
            <a:ext cx="1783080" cy="676656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69" b="1">
                <a:solidFill>
                  <a:srgbClr val="F5F7FA"/>
                </a:solidFill>
              </a:rPr>
              <a:t>.well-known</a:t>
            </a:r>
          </a:p>
          <a:p>
            <a:pPr algn="ctr"/>
            <a:r>
              <a:rPr sz="969" b="1">
                <a:solidFill>
                  <a:srgbClr val="F5F7FA"/>
                </a:solidFill>
              </a:rPr>
              <a:t>agent-card.json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112264"/>
            <a:ext cx="1737360" cy="676656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80" b="1">
                <a:solidFill>
                  <a:srgbClr val="F5F7FA"/>
                </a:solidFill>
              </a:rPr>
              <a:t>Weather</a:t>
            </a:r>
          </a:p>
          <a:p>
            <a:pPr algn="ctr"/>
            <a:r>
              <a:rPr sz="1080" b="1">
                <a:solidFill>
                  <a:srgbClr val="F5F7FA"/>
                </a:solidFill>
              </a:rPr>
              <a:t>Agent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13248" y="2450592"/>
            <a:ext cx="237744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34072" y="2450592"/>
            <a:ext cx="1115568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16752" y="2761488"/>
            <a:ext cx="1005840" cy="146304"/>
          </a:xfrm>
          <a:prstGeom prst="roundRect">
            <a:avLst/>
          </a:prstGeom>
          <a:solidFill>
            <a:srgbClr val="5BC99F"/>
          </a:solidFill>
          <a:ln w="1143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700" b="1">
                <a:solidFill>
                  <a:srgbClr val="F5F7FA"/>
                </a:solidFill>
              </a:rPr>
              <a:t>discover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761488"/>
            <a:ext cx="1005840" cy="146304"/>
          </a:xfrm>
          <a:prstGeom prst="roundRect">
            <a:avLst/>
          </a:prstGeom>
          <a:solidFill>
            <a:srgbClr val="F4B44C"/>
          </a:solidFill>
          <a:ln w="1143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700" b="1">
                <a:solidFill>
                  <a:srgbClr val="F5F7FA"/>
                </a:solidFill>
              </a:rPr>
              <a:t>invoke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273552"/>
            <a:ext cx="10250424" cy="2999232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38144"/>
            <a:ext cx="40233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Sample agent-card +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12464"/>
            <a:ext cx="9784080" cy="237744"/>
          </a:xfrm>
          <a:prstGeom prst="roundRect">
            <a:avLst/>
          </a:prstGeom>
          <a:solidFill>
            <a:srgbClr val="0F1E3C"/>
          </a:solidFill>
          <a:ln w="1016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80" b="0">
                <a:solidFill>
                  <a:srgbClr val="F5F7FA"/>
                </a:solidFill>
              </a:rPr>
              <a:t>curl http://127.0.0.1:3010/.well-known/agent-card.json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3986784"/>
            <a:ext cx="9802368" cy="2194560"/>
          </a:xfrm>
          <a:prstGeom prst="roundRect">
            <a:avLst/>
          </a:prstGeom>
          <a:solidFill>
            <a:srgbClr val="071630"/>
          </a:solidFill>
          <a:ln w="1270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050792"/>
            <a:ext cx="935431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"agent": "weather-agent",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"url": "http://127.0.0.1:3010/a2a/weather",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"request":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"jsonrpc": "2.0",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"id": "weather-call-1789605633597",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"method": "message/send",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"params":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"message":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"role": "user",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"parts": [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  { "kind": "text", "text": "Get current weather for Singapore."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],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"metadata": { "city": "Singapore"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6044183"/>
            <a:ext cx="905256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57E1FF"/>
                </a:solidFill>
              </a:rPr>
              <a:t>Invoke by POSTing this JSON-RPC payload to the URL above.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Agents that plan, act, observe, and adapt to achieve goals using tools and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00784"/>
            <a:ext cx="6080760" cy="4315968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01952"/>
            <a:ext cx="20116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E1FF"/>
                </a:solidFill>
              </a:rPr>
              <a:t>Agentic AI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2395728"/>
            <a:ext cx="896112" cy="512064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2267712"/>
            <a:ext cx="914400" cy="512064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2670048"/>
            <a:ext cx="914400" cy="512064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4005072"/>
            <a:ext cx="1078992" cy="512064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Observe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4407408"/>
            <a:ext cx="987552" cy="512064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Reflect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3163824"/>
            <a:ext cx="1097280" cy="65836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5F7FA"/>
                </a:solidFill>
              </a:rPr>
              <a:t>State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+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4919472"/>
            <a:ext cx="987552" cy="420624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Tools / APIs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27048" y="2066543"/>
            <a:ext cx="0" cy="329185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975104" y="2523744"/>
            <a:ext cx="530352" cy="12801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19856" y="2523744"/>
            <a:ext cx="438912" cy="40233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950208" y="3182112"/>
            <a:ext cx="365760" cy="8229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33472" y="4261104"/>
            <a:ext cx="585216" cy="329184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527048" y="2907792"/>
            <a:ext cx="118872" cy="168249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35808" y="2779776"/>
            <a:ext cx="0" cy="384048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84448" y="3822191"/>
            <a:ext cx="54864" cy="182881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15968" y="3182112"/>
            <a:ext cx="420624" cy="17373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6112" y="5504688"/>
            <a:ext cx="5486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19" b="0">
                <a:solidFill>
                  <a:srgbClr val="B8C6DD"/>
                </a:solidFill>
              </a:rPr>
              <a:t>The agent repeatedly plans, acts, observes and updates state until the goal is achieved.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67728" y="1700784"/>
            <a:ext cx="3730752" cy="4315968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920240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E1FF"/>
                </a:solidFill>
              </a:rPr>
              <a:t>What is Agentic AI?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304288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AI systems that do more than answer once — they pursue a goal across multiple steps.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They can plan, choose actions, use tools, observe results, and adjust what to do next.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They rely on memory, state, and feedback loops to complete tasks more autonomously.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937760"/>
            <a:ext cx="30175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30" b="1">
                <a:solidFill>
                  <a:srgbClr val="57E1FF"/>
                </a:solidFill>
              </a:rPr>
              <a:t>Core idea: an LLM becomes an active system, not just a one-shot responder.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7132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7FA"/>
                </a:solidFill>
              </a:rPr>
              <a:t>Agentic AI vs 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9692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Agentic AI is the agent's decision-making behavior. Harness Engineering is the runtime system that makes the agent reliable in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4983480" cy="80467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47088"/>
            <a:ext cx="1737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7E1FF"/>
                </a:solidFill>
              </a:rPr>
              <a:t>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4825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</a:rPr>
              <a:t>Focuses on how the agent reasons, plans, chooses actions, and adapts.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664208"/>
            <a:ext cx="4983480" cy="80467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2472" y="1847088"/>
            <a:ext cx="2468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7E1FF"/>
                </a:solidFill>
              </a:rPr>
              <a:t>Harness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204825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</a:rPr>
              <a:t>Focuses on the outer runtime: tools, controls, memory, reliability, and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33472"/>
            <a:ext cx="10168128" cy="3255264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2834640"/>
            <a:ext cx="4626864" cy="402336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1">
                <a:solidFill>
                  <a:srgbClr val="F5F7FA"/>
                </a:solidFill>
              </a:rPr>
              <a:t>Agentic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2834640"/>
            <a:ext cx="4626864" cy="402336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1">
                <a:solidFill>
                  <a:srgbClr val="F5F7FA"/>
                </a:solidFill>
              </a:rPr>
              <a:t>Harness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" y="3328416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" y="350215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298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33298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Agent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369417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52501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52501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Tool registry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" y="3712464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" y="3886200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71703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Choosing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371703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Tool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4078224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0906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Re-planning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390906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State 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" y="4096512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" y="4270248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10108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Using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410108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Memory implementation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" y="446227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29310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Deciding next step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429310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Context construction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" y="4480560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" y="465429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48513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Determining completion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48513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Stop conditions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" y="4846320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467715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67715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Retries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" y="4864608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6112" y="5038344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486918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486918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Approval gates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" y="5230368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506120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506120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Security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824" y="5248656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112" y="542239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25322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525322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Observability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" y="561441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" y="544525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53328" y="544525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Persistence / replay / debugging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998464"/>
            <a:ext cx="10168128" cy="62179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4400" y="6172200"/>
            <a:ext cx="1051560" cy="256032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Think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148840" y="6172200"/>
            <a:ext cx="1051560" cy="256032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Act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83280" y="6172200"/>
            <a:ext cx="1051560" cy="256032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Adapt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6455664"/>
            <a:ext cx="338328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57E1FF"/>
                </a:solidFill>
              </a:rPr>
              <a:t>Agentic AI = inner intelligence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46520" y="6172200"/>
            <a:ext cx="1051560" cy="25603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Tools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60" y="6172200"/>
            <a:ext cx="1051560" cy="256032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Memory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15400" y="6172200"/>
            <a:ext cx="1051560" cy="256032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Controls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6455664"/>
            <a:ext cx="361188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57E1FF"/>
                </a:solidFill>
              </a:rPr>
              <a:t>Harness Engineering = outer runtime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8424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1868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1636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5080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686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Example: Autonomous Driving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9784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simple analogy to separate agentic intelligence from harness engineering.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5074920" cy="452628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89320" y="1664208"/>
            <a:ext cx="4983480" cy="452628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20240"/>
            <a:ext cx="3474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Agentic AI = the driving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3840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Harness Engineering = the surrounding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340864"/>
            <a:ext cx="4251960" cy="1627632"/>
          </a:xfrm>
          <a:prstGeom prst="roundRect">
            <a:avLst/>
          </a:prstGeom>
          <a:solidFill>
            <a:srgbClr val="0A1A37"/>
          </a:solidFill>
          <a:ln w="1397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28016" tIns="146304"/>
          <a:lstStyle/>
          <a:p>
            <a:pPr algn="l"/>
            <a:r>
              <a:rPr sz="1600" b="1">
                <a:solidFill>
                  <a:srgbClr val="F5F7FA"/>
                </a:solidFill>
                <a:latin typeface="Courier New"/>
              </a:rPr>
              <a:t>The AI deciding: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/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car ahead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slow down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change lane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accelerate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60520"/>
            <a:ext cx="4206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</a:rPr>
              <a:t>This is the agentic intelligence: reasoning about the situation and choosing the next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5047488"/>
            <a:ext cx="3794760" cy="640080"/>
          </a:xfrm>
          <a:prstGeom prst="roundRect">
            <a:avLst/>
          </a:prstGeom>
          <a:solidFill>
            <a:srgbClr val="08162D"/>
          </a:solidFill>
          <a:ln w="1270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17320" y="5340096"/>
            <a:ext cx="32918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45920" y="5175504"/>
            <a:ext cx="713232" cy="310896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5F7FA"/>
                </a:solidFill>
              </a:rPr>
              <a:t>AI Car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175504"/>
            <a:ext cx="713232" cy="310896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5F7FA"/>
                </a:solidFill>
              </a:rPr>
              <a:t>Car ahead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5330952"/>
            <a:ext cx="1078992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42032" y="4882896"/>
            <a:ext cx="914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7E1FF"/>
                </a:solidFill>
              </a:rPr>
              <a:t>decide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2395728"/>
            <a:ext cx="1938528" cy="384048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Sensors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2395728"/>
            <a:ext cx="1938528" cy="384048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Control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054096"/>
            <a:ext cx="1938528" cy="384048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Permissions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85632" y="3054096"/>
            <a:ext cx="1938528" cy="384048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Safety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3712464"/>
            <a:ext cx="1938528" cy="384048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85632" y="3712464"/>
            <a:ext cx="1938528" cy="384048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Telemetry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370832"/>
            <a:ext cx="1938528" cy="384048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Fallbacks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85632" y="4370832"/>
            <a:ext cx="1938528" cy="384048"/>
          </a:xfrm>
          <a:prstGeom prst="roundRect">
            <a:avLst/>
          </a:prstGeom>
          <a:solidFill>
            <a:srgbClr val="E2AE3B"/>
          </a:solidFill>
          <a:ln w="12700">
            <a:solidFill>
              <a:srgbClr val="E2A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38928"/>
            <a:ext cx="4279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</a:rPr>
              <a:t>These are the harness pieces: the runtime controls that make the driving agent safe, observable, recoverable, and reliable.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291072"/>
            <a:ext cx="10314432" cy="393192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373368"/>
            <a:ext cx="97840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57E1FF"/>
                </a:solidFill>
              </a:rPr>
              <a:t>Takeaway: Agentic AI decides what to do. Harness Engineering makes that decision safe, controlled, logged, recoverable, and production-ready.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5669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Loop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8961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Designing the repeated cycle that keeps an agent working until it succeeds or safely stops.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32588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00784"/>
            <a:ext cx="4160520" cy="443484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2926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What is Loop Engineering?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87168"/>
            <a:ext cx="457200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68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1">
                <a:solidFill>
                  <a:srgbClr val="F5F7FA"/>
                </a:solidFill>
              </a:rPr>
              <a:t>Defines the agent cycle: observe, reason, plan, act, evaluate.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56432"/>
            <a:ext cx="457200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3814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1">
                <a:solidFill>
                  <a:srgbClr val="F5F7FA"/>
                </a:solidFill>
              </a:rPr>
              <a:t>Controls retries, state updates, tool calls, and stopping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25696"/>
            <a:ext cx="457200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0740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1">
                <a:solidFill>
                  <a:srgbClr val="F5F7FA"/>
                </a:solidFill>
              </a:rPr>
              <a:t>Turns a one-shot LLM call into a reliable iterative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32704"/>
            <a:ext cx="3429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7E1FF"/>
                </a:solidFill>
              </a:rPr>
              <a:t>Core question: How does the agent keep working?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700784"/>
            <a:ext cx="5989320" cy="443484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938528"/>
            <a:ext cx="4023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How the loop works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2240" y="2788920"/>
            <a:ext cx="1005839" cy="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56448" y="2788920"/>
            <a:ext cx="877824" cy="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28048" y="3108960"/>
            <a:ext cx="0" cy="8229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156448" y="4279392"/>
            <a:ext cx="877824" cy="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492240" y="4279392"/>
            <a:ext cx="1005839" cy="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44768" y="3108960"/>
            <a:ext cx="0" cy="8229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72400" y="4526280"/>
            <a:ext cx="0" cy="557784"/>
          </a:xfrm>
          <a:prstGeom prst="line">
            <a:avLst/>
          </a:prstGeom>
          <a:ln w="25400">
            <a:solidFill>
              <a:srgbClr val="5BC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29800" y="4434840"/>
            <a:ext cx="301752" cy="548640"/>
          </a:xfrm>
          <a:prstGeom prst="line">
            <a:avLst/>
          </a:prstGeom>
          <a:ln w="25400">
            <a:solidFill>
              <a:srgbClr val="EB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6629400" y="4590288"/>
            <a:ext cx="1143000" cy="859536"/>
          </a:xfrm>
          <a:prstGeom prst="line">
            <a:avLst/>
          </a:prstGeom>
          <a:ln w="25400">
            <a:solidFill>
              <a:srgbClr val="5BC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69280" y="2487168"/>
            <a:ext cx="896112" cy="566928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Observe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2487168"/>
            <a:ext cx="896112" cy="566928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Reason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487168"/>
            <a:ext cx="896112" cy="566928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3986784"/>
            <a:ext cx="896112" cy="566928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3986784"/>
            <a:ext cx="896112" cy="566928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Evaluate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3986784"/>
            <a:ext cx="896112" cy="566928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Update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14032" y="3200400"/>
            <a:ext cx="1417320" cy="658368"/>
          </a:xfrm>
          <a:prstGeom prst="roundRect">
            <a:avLst/>
          </a:prstGeom>
          <a:solidFill>
            <a:srgbClr val="0A1A37"/>
          </a:solidFill>
          <a:ln w="1524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50" b="1">
                <a:solidFill>
                  <a:srgbClr val="F5F7FA"/>
                </a:solidFill>
              </a:rPr>
              <a:t>Loop State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memory +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67728" y="5084064"/>
            <a:ext cx="1572768" cy="402336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5F7FA"/>
                </a:solidFill>
              </a:rPr>
              <a:t>Save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8048" y="4983480"/>
            <a:ext cx="1078992" cy="475488"/>
          </a:xfrm>
          <a:prstGeom prst="roundRect">
            <a:avLst/>
          </a:prstGeom>
          <a:solidFill>
            <a:srgbClr val="EBBE4A"/>
          </a:solidFill>
          <a:ln w="12700">
            <a:solidFill>
              <a:srgbClr val="EB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50" b="1">
                <a:solidFill>
                  <a:srgbClr val="F5F7FA"/>
                </a:solidFill>
              </a:rPr>
              <a:t>Stop /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Continue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4416" y="5705856"/>
            <a:ext cx="48920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19" b="0">
                <a:solidFill>
                  <a:srgbClr val="B8C6DD"/>
                </a:solidFill>
              </a:rPr>
              <a:t>Repeat until success, failure, budget limit, or human approval requirement.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