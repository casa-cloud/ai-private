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20240"/>
            <a:ext cx="5303520" cy="9144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3200" b="1">
                <a:solidFill>
                  <a:srgbClr val="F5F8FF"/>
                </a:solidFill>
              </a:rPr>
              <a:t>Agent Engineering
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063240"/>
            <a:ext cx="566928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From prompt → context → loop → graph, supported by harness engineering.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3547872"/>
            <a:ext cx="141732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37960" y="1234440"/>
            <a:ext cx="4800600" cy="425196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481328"/>
            <a:ext cx="32004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58E8FF"/>
                </a:solidFill>
              </a:rPr>
              <a:t>Journey in one 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4389120"/>
            <a:ext cx="1234440" cy="420624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Prompt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7607808" y="4050791"/>
            <a:ext cx="219456" cy="320041"/>
          </a:xfrm>
          <a:prstGeom prst="line">
            <a:avLst/>
          </a:prstGeom>
          <a:ln w="2794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616952" y="3886200"/>
            <a:ext cx="1234440" cy="420624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Context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229600" y="3547872"/>
            <a:ext cx="219456" cy="320040"/>
          </a:xfrm>
          <a:prstGeom prst="line">
            <a:avLst/>
          </a:prstGeom>
          <a:ln w="2794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38744" y="3383279"/>
            <a:ext cx="1234440" cy="420624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Loop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851392" y="3044951"/>
            <a:ext cx="219456" cy="320041"/>
          </a:xfrm>
          <a:prstGeom prst="line">
            <a:avLst/>
          </a:prstGeom>
          <a:ln w="2794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60536" y="2880359"/>
            <a:ext cx="1234440" cy="420624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Graph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9473184" y="2542031"/>
            <a:ext cx="219456" cy="320041"/>
          </a:xfrm>
          <a:prstGeom prst="line">
            <a:avLst/>
          </a:prstGeom>
          <a:ln w="2794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482328" y="2377439"/>
            <a:ext cx="1234440" cy="420624"/>
          </a:xfrm>
          <a:prstGeom prst="roundRect">
            <a:avLst/>
          </a:prstGeom>
          <a:solidFill>
            <a:srgbClr val="52D2A4"/>
          </a:solidFill>
          <a:ln w="12700">
            <a:solidFill>
              <a:srgbClr val="52D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Harness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5074920"/>
            <a:ext cx="393192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Each step adds more system control.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5760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</a:rPr>
              <a:t>The Evolution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56692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>
                <a:solidFill>
                  <a:srgbClr val="B4C2DA"/>
                </a:solidFill>
              </a:rPr>
              <a:t>Each stage moves more intelligence from one prompt into the surrounding 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23444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47088"/>
            <a:ext cx="3200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58E8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47088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</a:rPr>
              <a:t>Prompt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847088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B4C2DA"/>
                </a:solidFill>
              </a:rPr>
              <a:t>What should I tell the model?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14016"/>
            <a:ext cx="3200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58E8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414016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</a:rPr>
              <a:t>Context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14016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B4C2DA"/>
                </a:solidFill>
              </a:rPr>
              <a:t>What information should the model see now?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980944"/>
            <a:ext cx="3200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58E8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980944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</a:rPr>
              <a:t>Loop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980944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B4C2DA"/>
                </a:solidFill>
              </a:rPr>
              <a:t>How does the agent keep working?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47872"/>
            <a:ext cx="3200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58E8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547872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</a:rPr>
              <a:t>Graph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547872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B4C2DA"/>
                </a:solidFill>
              </a:rPr>
              <a:t>Which paths can the workflow take?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14800"/>
            <a:ext cx="32004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58E8FF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114800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5F8FF"/>
                </a:solidFill>
              </a:rPr>
              <a:t>Harness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114800"/>
            <a:ext cx="2560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B4C2DA"/>
                </a:solidFill>
              </a:rPr>
              <a:t>What system controls the agent?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1508760"/>
            <a:ext cx="4069080" cy="406908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1783080"/>
            <a:ext cx="274320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58E8FF"/>
                </a:solidFill>
              </a:rPr>
              <a:t>From prompt to system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8" y="2148840"/>
            <a:ext cx="2240280" cy="310896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Prompt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98280" y="2478024"/>
            <a:ext cx="0" cy="146304"/>
          </a:xfrm>
          <a:prstGeom prst="line">
            <a:avLst/>
          </a:prstGeom>
          <a:ln w="25400">
            <a:solidFill>
              <a:srgbClr val="58E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469880" y="2240280"/>
            <a:ext cx="128016" cy="128016"/>
          </a:xfrm>
          <a:prstGeom prst="ellipse">
            <a:avLst/>
          </a:prstGeom>
          <a:solidFill>
            <a:srgbClr val="7E66FF"/>
          </a:solidFill>
          <a:ln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73568" y="2651760"/>
            <a:ext cx="2240280" cy="310896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Context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98280" y="2980944"/>
            <a:ext cx="0" cy="146304"/>
          </a:xfrm>
          <a:prstGeom prst="line">
            <a:avLst/>
          </a:prstGeom>
          <a:ln w="25400">
            <a:solidFill>
              <a:srgbClr val="58E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469880" y="2743200"/>
            <a:ext cx="128016" cy="128016"/>
          </a:xfrm>
          <a:prstGeom prst="ellipse">
            <a:avLst/>
          </a:prstGeom>
          <a:solidFill>
            <a:srgbClr val="427FFF"/>
          </a:solidFill>
          <a:ln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73568" y="3154680"/>
            <a:ext cx="2240280" cy="310896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Loop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98280" y="3483864"/>
            <a:ext cx="0" cy="146304"/>
          </a:xfrm>
          <a:prstGeom prst="line">
            <a:avLst/>
          </a:prstGeom>
          <a:ln w="25400">
            <a:solidFill>
              <a:srgbClr val="58E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0469880" y="3246120"/>
            <a:ext cx="128016" cy="128016"/>
          </a:xfrm>
          <a:prstGeom prst="ellipse">
            <a:avLst/>
          </a:prstGeom>
          <a:solidFill>
            <a:srgbClr val="31BEC9"/>
          </a:solidFill>
          <a:ln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973568" y="3657600"/>
            <a:ext cx="2240280" cy="310896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Graph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98280" y="3986784"/>
            <a:ext cx="0" cy="146304"/>
          </a:xfrm>
          <a:prstGeom prst="line">
            <a:avLst/>
          </a:prstGeom>
          <a:ln w="25400">
            <a:solidFill>
              <a:srgbClr val="58E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0469880" y="3749040"/>
            <a:ext cx="128016" cy="128016"/>
          </a:xfrm>
          <a:prstGeom prst="ellipse">
            <a:avLst/>
          </a:prstGeom>
          <a:solidFill>
            <a:srgbClr val="3AA6F5"/>
          </a:solidFill>
          <a:ln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973568" y="4160520"/>
            <a:ext cx="2240280" cy="310896"/>
          </a:xfrm>
          <a:prstGeom prst="roundRect">
            <a:avLst/>
          </a:prstGeom>
          <a:solidFill>
            <a:srgbClr val="52D2A4"/>
          </a:solidFill>
          <a:ln w="12700">
            <a:solidFill>
              <a:srgbClr val="52D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300" b="1">
                <a:solidFill>
                  <a:srgbClr val="F5F8FF"/>
                </a:solidFill>
              </a:rPr>
              <a:t>Harness</a:t>
            </a:r>
          </a:p>
        </p:txBody>
      </p:sp>
      <p:sp>
        <p:nvSpPr>
          <p:cNvPr id="40" name="Oval 39"/>
          <p:cNvSpPr/>
          <p:nvPr/>
        </p:nvSpPr>
        <p:spPr>
          <a:xfrm>
            <a:off x="10469880" y="4251960"/>
            <a:ext cx="128016" cy="128016"/>
          </a:xfrm>
          <a:prstGeom prst="ellipse">
            <a:avLst/>
          </a:prstGeom>
          <a:solidFill>
            <a:srgbClr val="52D2A4"/>
          </a:solidFill>
          <a:ln>
            <a:solidFill>
              <a:srgbClr val="52D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4983480"/>
            <a:ext cx="292608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Harness supports all stages.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806440"/>
            <a:ext cx="10287000" cy="384048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888736"/>
            <a:ext cx="9784080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50" b="1">
                <a:solidFill>
                  <a:srgbClr val="F5F8FF"/>
                </a:solidFill>
              </a:rPr>
              <a:t>Harness engineering is the outer layer that supports all stages — not just the final stage.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5760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</a:rPr>
              <a:t>Prompt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56692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>
                <a:solidFill>
                  <a:srgbClr val="B4C2DA"/>
                </a:solidFill>
              </a:rPr>
              <a:t>What should I tell the model?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23444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166360" cy="361188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39696"/>
            <a:ext cx="4709160" cy="306324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Designing instructions that guide an LLM toward the desired output.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Focuses on wording, examples, constraints, roles, and output format.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Best for improving a single model interaction.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54864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58E8FF"/>
                </a:solidFill>
              </a:rPr>
              <a:t>Core question: What should I tell the model?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5166360" cy="411480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965960"/>
            <a:ext cx="30175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58E8FF"/>
                </a:solidFill>
              </a:rPr>
              <a:t>One-shot interaction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3429000"/>
            <a:ext cx="960120" cy="502920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502152"/>
            <a:ext cx="210312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200" b="1">
                <a:solidFill>
                  <a:srgbClr val="58E8FF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2712" y="3429000"/>
            <a:ext cx="960120" cy="502920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2832" y="3502152"/>
            <a:ext cx="210312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200" b="1">
                <a:solidFill>
                  <a:srgbClr val="58E8FF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53144" y="3429000"/>
            <a:ext cx="960120" cy="502920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13264" y="3502152"/>
            <a:ext cx="210312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200" b="1">
                <a:solidFill>
                  <a:srgbClr val="58E8FF"/>
                </a:solidFill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23576" y="3429000"/>
            <a:ext cx="960120" cy="502920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389120"/>
            <a:ext cx="411480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The prompt carries most of the instruction and 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5760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</a:rPr>
              <a:t>Context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56692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>
                <a:solidFill>
                  <a:srgbClr val="B4C2DA"/>
                </a:solidFill>
              </a:rPr>
              <a:t>What information should the model see now?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23444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166360" cy="361188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39696"/>
            <a:ext cx="4709160" cy="306324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Designing what information the model should see at a given moment.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Includes retrieved data, conversation history, user state, and tool results.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Focuses on giving the model the right information, not just the right prompt.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54864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58E8FF"/>
                </a:solidFill>
              </a:rPr>
              <a:t>Core question: What information should the model see now?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5166360" cy="411480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965960"/>
            <a:ext cx="30175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58E8FF"/>
                </a:solidFill>
              </a:rPr>
              <a:t>Context assembly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3246120"/>
            <a:ext cx="1051560" cy="566928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800" b="1">
                <a:solidFill>
                  <a:srgbClr val="F5F8FF"/>
                </a:solidFill>
              </a:rPr>
              <a:t>LLM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514600"/>
            <a:ext cx="1143000" cy="384048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Prompt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2514600"/>
            <a:ext cx="1143000" cy="384048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Retrieval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4526280"/>
            <a:ext cx="1143000" cy="384048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History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4526280"/>
            <a:ext cx="1143000" cy="384048"/>
          </a:xfrm>
          <a:prstGeom prst="roundRect">
            <a:avLst/>
          </a:prstGeom>
          <a:solidFill>
            <a:srgbClr val="52D2A4"/>
          </a:solidFill>
          <a:ln w="12700">
            <a:solidFill>
              <a:srgbClr val="52D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Tools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4983480"/>
            <a:ext cx="1143000" cy="384048"/>
          </a:xfrm>
          <a:prstGeom prst="roundRect">
            <a:avLst/>
          </a:prstGeom>
          <a:solidFill>
            <a:srgbClr val="FFB152"/>
          </a:solidFill>
          <a:ln w="12700">
            <a:solidFill>
              <a:srgbClr val="FFB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User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440680"/>
            <a:ext cx="411480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Good answers come from selecting the right inputs.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46720" y="2706624"/>
            <a:ext cx="411480" cy="649224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9509760" y="2706624"/>
            <a:ext cx="411480" cy="649224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046720" y="3703320"/>
            <a:ext cx="411480" cy="1014984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9509760" y="3703320"/>
            <a:ext cx="502920" cy="1014984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892540" y="3813048"/>
            <a:ext cx="91440" cy="1170432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5760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</a:rPr>
              <a:t>Loop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56692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>
                <a:solidFill>
                  <a:srgbClr val="B4C2DA"/>
                </a:solidFill>
              </a:rPr>
              <a:t>How does the agent keep working?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23444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166360" cy="361188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39696"/>
            <a:ext cx="4709160" cy="306324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Designing how an agent repeatedly thinks, acts, observes, and continues.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Includes tool use, retries, stopping conditions, and state updates.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Turns a one-shot LLM call into an iterative agent workflow.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54864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58E8FF"/>
                </a:solidFill>
              </a:rPr>
              <a:t>Core question: How does the agent keep working?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5166360" cy="411480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965960"/>
            <a:ext cx="30175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58E8FF"/>
                </a:solidFill>
              </a:rPr>
              <a:t>Iterative cycle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788920"/>
            <a:ext cx="1234440" cy="502920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600" b="1">
                <a:solidFill>
                  <a:srgbClr val="F5F8FF"/>
                </a:solidFill>
              </a:rPr>
              <a:t>Think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2788920"/>
            <a:ext cx="1234440" cy="502920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600" b="1">
                <a:solidFill>
                  <a:srgbClr val="F5F8FF"/>
                </a:solidFill>
              </a:rPr>
              <a:t>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4343400"/>
            <a:ext cx="1234440" cy="502920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Observe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4343400"/>
            <a:ext cx="1234440" cy="502920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880360"/>
            <a:ext cx="50292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800" b="1">
                <a:solidFill>
                  <a:srgbClr val="58E8FF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08792" y="3520440"/>
            <a:ext cx="256032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800" b="1">
                <a:solidFill>
                  <a:srgbClr val="58E8FF"/>
                </a:solidFill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434840"/>
            <a:ext cx="50292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800" b="1">
                <a:solidFill>
                  <a:srgbClr val="58E8FF"/>
                </a:solidFill>
              </a:rPr>
              <a:t>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520440"/>
            <a:ext cx="256032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800" b="1">
                <a:solidFill>
                  <a:srgbClr val="58E8FF"/>
                </a:solidFill>
              </a:rPr>
              <a:t>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212080"/>
            <a:ext cx="39319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Repeat until goal is done or stop condition is reached.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5760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</a:rPr>
              <a:t>Graph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56692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>
                <a:solidFill>
                  <a:srgbClr val="B4C2DA"/>
                </a:solidFill>
              </a:rPr>
              <a:t>Which paths can the workflow take?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23444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166360" cy="361188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39696"/>
            <a:ext cx="4709160" cy="306324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Designing the states, branches, and transitions of an agent workflow.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Supports multiple paths, parallel steps, sub-agents, approvals, and retries.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Focuses on the structure and topology of agent execution.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54864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58E8FF"/>
                </a:solidFill>
              </a:rPr>
              <a:t>Core question: Which paths can the workflow take?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5166360" cy="411480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965960"/>
            <a:ext cx="30175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58E8FF"/>
                </a:solidFill>
              </a:rPr>
              <a:t>Workflow topology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818120" y="2697480"/>
            <a:ext cx="1143000" cy="822960"/>
          </a:xfrm>
          <a:prstGeom prst="line">
            <a:avLst/>
          </a:prstGeom>
          <a:ln w="3810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61120" y="2697480"/>
            <a:ext cx="1143000" cy="822960"/>
          </a:xfrm>
          <a:prstGeom prst="line">
            <a:avLst/>
          </a:prstGeom>
          <a:ln w="3810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18120" y="3977639"/>
            <a:ext cx="1143000" cy="731521"/>
          </a:xfrm>
          <a:prstGeom prst="line">
            <a:avLst/>
          </a:prstGeom>
          <a:ln w="3810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961120" y="3977639"/>
            <a:ext cx="1143000" cy="731521"/>
          </a:xfrm>
          <a:prstGeom prst="line">
            <a:avLst/>
          </a:prstGeom>
          <a:ln w="38100">
            <a:solidFill>
              <a:srgbClr val="73C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66760" y="2331720"/>
            <a:ext cx="1207008" cy="475488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Planner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3520440"/>
            <a:ext cx="1188720" cy="475488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3520440"/>
            <a:ext cx="1188720" cy="475488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4572000"/>
            <a:ext cx="1207008" cy="475488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Writer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349240"/>
            <a:ext cx="39319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B4C2DA"/>
                </a:solidFill>
              </a:rPr>
              <a:t>Multiple states and paths, not one simple loop.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5760720" cy="47548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</a:rPr>
              <a:t>Harness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56692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50" b="0">
                <a:solidFill>
                  <a:srgbClr val="B4C2DA"/>
                </a:solidFill>
              </a:rPr>
              <a:t>What system controls the agent?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234440" cy="22860"/>
          </a:xfrm>
          <a:prstGeom prst="rect">
            <a:avLst/>
          </a:prstGeom>
          <a:solidFill>
            <a:srgbClr val="5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4C2DA"/>
                </a:solidFill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166360" cy="361188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39696"/>
            <a:ext cx="4709160" cy="3063240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Designing the runtime system around the agent that controls how it operates.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Includes tools, memory, permissions, observability, guardrails, checkpoints, and recovery.</a:t>
            </a:r>
          </a:p>
          <a:p>
            <a:pPr algn="l">
              <a:spcAft>
                <a:spcPts val="800"/>
              </a:spcAft>
            </a:pPr>
            <a:r>
              <a:rPr sz="2100">
                <a:solidFill>
                  <a:srgbClr val="F5F8FF"/>
                </a:solidFill>
              </a:rPr>
              <a:t>Makes agentic workflows reliable, manageable, and production-ready.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548640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58E8FF"/>
                </a:solidFill>
              </a:rPr>
              <a:t>Core question: What system controls the agent?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5166360" cy="411480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965960"/>
            <a:ext cx="30175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58E8FF"/>
                </a:solidFill>
              </a:rPr>
              <a:t>Outer runtime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423160"/>
            <a:ext cx="4160520" cy="2514600"/>
          </a:xfrm>
          <a:prstGeom prst="roundRect">
            <a:avLst/>
          </a:prstGeom>
          <a:noFill/>
          <a:ln w="25400">
            <a:solidFill>
              <a:srgbClr val="58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615184"/>
            <a:ext cx="109728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58E8FF"/>
                </a:solidFill>
              </a:rPr>
              <a:t>Harness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3200400"/>
            <a:ext cx="1188720" cy="502920"/>
          </a:xfrm>
          <a:prstGeom prst="roundRect">
            <a:avLst/>
          </a:prstGeom>
          <a:solidFill>
            <a:srgbClr val="7E66FF"/>
          </a:solidFill>
          <a:ln w="12700">
            <a:solidFill>
              <a:srgbClr val="7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500" b="1">
                <a:solidFill>
                  <a:srgbClr val="F5F8FF"/>
                </a:solidFill>
              </a:rPr>
              <a:t>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880360"/>
            <a:ext cx="777240" cy="384048"/>
          </a:xfrm>
          <a:prstGeom prst="roundRect">
            <a:avLst/>
          </a:prstGeom>
          <a:solidFill>
            <a:srgbClr val="427FFF"/>
          </a:solidFill>
          <a:ln w="12700">
            <a:solidFill>
              <a:srgbClr val="4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93808" y="2880360"/>
            <a:ext cx="868680" cy="384048"/>
          </a:xfrm>
          <a:prstGeom prst="roundRect">
            <a:avLst/>
          </a:prstGeom>
          <a:solidFill>
            <a:srgbClr val="31BEC9"/>
          </a:solidFill>
          <a:ln w="12700">
            <a:solidFill>
              <a:srgbClr val="31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Memory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4069080"/>
            <a:ext cx="1051560" cy="384048"/>
          </a:xfrm>
          <a:prstGeom prst="roundRect">
            <a:avLst/>
          </a:prstGeom>
          <a:solidFill>
            <a:srgbClr val="3AA6F5"/>
          </a:solidFill>
          <a:ln w="12700">
            <a:solidFill>
              <a:srgbClr val="3AA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100" b="1">
                <a:solidFill>
                  <a:srgbClr val="F5F8FF"/>
                </a:solidFill>
              </a:rPr>
              <a:t>Guardrails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4069080"/>
            <a:ext cx="1143000" cy="384048"/>
          </a:xfrm>
          <a:prstGeom prst="roundRect">
            <a:avLst/>
          </a:prstGeom>
          <a:solidFill>
            <a:srgbClr val="52D2A4"/>
          </a:solidFill>
          <a:ln w="12700">
            <a:solidFill>
              <a:srgbClr val="52D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/>
          <a:lstStyle/>
          <a:p>
            <a:pPr algn="ctr"/>
            <a:r>
              <a:rPr sz="1200" b="1">
                <a:solidFill>
                  <a:srgbClr val="F5F8FF"/>
                </a:solidFill>
              </a:rPr>
              <a:t>Observe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5257800"/>
            <a:ext cx="402336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00">
                <a:solidFill>
                  <a:srgbClr val="C4CEE0"/>
                </a:solidFill>
              </a:rPr>
              <a:t>Tools, memory, guardrails, approval and observation surround the workflow.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4069080"/>
            <a:ext cx="1005840" cy="384048"/>
          </a:xfrm>
          <a:prstGeom prst="roundRect">
            <a:avLst/>
          </a:prstGeom>
          <a:solidFill>
            <a:srgbClr val="5ED2AA"/>
          </a:solidFill>
          <a:ln w="12700">
            <a:solidFill>
              <a:srgbClr val="5E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800" b="1">
                <a:solidFill>
                  <a:srgbClr val="FFFFFF"/>
                </a:solidFill>
              </a:rPr>
              <a:t>Approval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11480"/>
            <a:ext cx="6217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</a:rPr>
              <a:t>MCP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960120"/>
            <a:ext cx="7315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A standard connector layer between AI apps and external systems.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1389888"/>
            <a:ext cx="150876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5074920" cy="3749039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331720"/>
            <a:ext cx="438912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13432"/>
            <a:ext cx="3886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</a:rPr>
              <a:t>Exposes tools, resources and prompts through a common protocol.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246120"/>
            <a:ext cx="438912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27832"/>
            <a:ext cx="3886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</a:rPr>
              <a:t>Lets the AI app discover what actions are available.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60520"/>
            <a:ext cx="438912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42232"/>
            <a:ext cx="3886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</a:rPr>
              <a:t>Connects external systems without custom logic for every app.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97880"/>
            <a:ext cx="5486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7E1FF"/>
                </a:solidFill>
              </a:rPr>
              <a:t>Core idea: one protocol for tools and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91640"/>
            <a:ext cx="5349240" cy="4251960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65960"/>
            <a:ext cx="4389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57E1FF"/>
                </a:solidFill>
              </a:rPr>
              <a:t>MCP server concept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2971800"/>
            <a:ext cx="1097280" cy="777240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5F7FA"/>
                </a:solidFill>
              </a:rPr>
              <a:t>AI</a:t>
            </a:r>
          </a:p>
          <a:p>
            <a:pPr algn="ctr"/>
            <a:r>
              <a:rPr sz="1700" b="1">
                <a:solidFill>
                  <a:srgbClr val="F5F7FA"/>
                </a:solidFill>
              </a:rPr>
              <a:t>App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788920"/>
            <a:ext cx="1325880" cy="1143000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5F7FA"/>
                </a:solidFill>
              </a:rPr>
              <a:t>MCP</a:t>
            </a:r>
          </a:p>
          <a:p>
            <a:pPr algn="ctr"/>
            <a:r>
              <a:rPr sz="1700" b="1">
                <a:solidFill>
                  <a:srgbClr val="F5F7FA"/>
                </a:solidFill>
              </a:rPr>
              <a:t>Server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26679" y="3355848"/>
            <a:ext cx="502921" cy="0"/>
          </a:xfrm>
          <a:prstGeom prst="line">
            <a:avLst/>
          </a:prstGeom>
          <a:ln w="2794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555480" y="2880360"/>
            <a:ext cx="502920" cy="475488"/>
          </a:xfrm>
          <a:prstGeom prst="line">
            <a:avLst/>
          </a:prstGeom>
          <a:ln w="2794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55480" y="3355848"/>
            <a:ext cx="502920" cy="210312"/>
          </a:xfrm>
          <a:prstGeom prst="line">
            <a:avLst/>
          </a:prstGeom>
          <a:ln w="2794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55480" y="3355848"/>
            <a:ext cx="502920" cy="896112"/>
          </a:xfrm>
          <a:prstGeom prst="line">
            <a:avLst/>
          </a:prstGeom>
          <a:ln w="2794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058400" y="2606040"/>
            <a:ext cx="1170432" cy="512064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7FA"/>
                </a:solidFill>
              </a:rPr>
              <a:t>Tools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3291840"/>
            <a:ext cx="1170432" cy="512064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7FA"/>
                </a:solidFill>
              </a:rPr>
              <a:t>Resources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3977639"/>
            <a:ext cx="1170432" cy="512064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5F7FA"/>
                </a:solidFill>
              </a:rPr>
              <a:t>Prompts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074920"/>
            <a:ext cx="4297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8C6DD"/>
                </a:solidFill>
              </a:rPr>
              <a:t>The AI app talks to MCP; MCP talks to external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5400">
            <a:solidFill>
              <a:srgbClr val="78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5400">
            <a:solidFill>
              <a:srgbClr val="31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ctr"/>
            <a:r>
              <a:rPr sz="800" b="0">
                <a:solidFill>
                  <a:srgbClr val="C4CEE0"/>
                </a:solidFill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11480"/>
            <a:ext cx="6217920" cy="502920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MCP Server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960120"/>
            <a:ext cx="7315200" cy="256032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C4CEE0"/>
                </a:solidFill>
              </a:rPr>
              <a:t>Discovery → selection → tool call → execution → structured result.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1389888"/>
            <a:ext cx="1508760" cy="27432"/>
          </a:xfrm>
          <a:prstGeom prst="rect">
            <a:avLst/>
          </a:prstGeom>
          <a:solidFill>
            <a:srgbClr val="57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10927080" cy="4434840"/>
          </a:xfrm>
          <a:prstGeom prst="roundRect">
            <a:avLst/>
          </a:prstGeom>
          <a:solidFill>
            <a:srgbClr val="0D1E3E"/>
          </a:solidFill>
          <a:ln w="15240">
            <a:solidFill>
              <a:srgbClr val="1B4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93392"/>
            <a:ext cx="3657600" cy="292608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57E1FF"/>
                </a:solidFill>
              </a:rPr>
              <a:t>Runtime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743200"/>
            <a:ext cx="1234440" cy="786384"/>
          </a:xfrm>
          <a:prstGeom prst="roundRect">
            <a:avLst/>
          </a:prstGeom>
          <a:solidFill>
            <a:srgbClr val="7868FF"/>
          </a:solidFill>
          <a:ln w="15240">
            <a:solidFill>
              <a:srgbClr val="78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Discover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capabilities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" y="2596896"/>
            <a:ext cx="310896" cy="310896"/>
          </a:xfrm>
          <a:prstGeom prst="roundRect">
            <a:avLst/>
          </a:prstGeom>
          <a:solidFill>
            <a:srgbClr val="031028"/>
          </a:solidFill>
          <a:ln w="152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4572" bIns="457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2743200"/>
            <a:ext cx="1234440" cy="786384"/>
          </a:xfrm>
          <a:prstGeom prst="roundRect">
            <a:avLst/>
          </a:prstGeom>
          <a:solidFill>
            <a:srgbClr val="467CFF"/>
          </a:solidFill>
          <a:ln w="15240">
            <a:solidFill>
              <a:srgbClr val="46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Choose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tool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25496" y="2596896"/>
            <a:ext cx="310896" cy="310896"/>
          </a:xfrm>
          <a:prstGeom prst="roundRect">
            <a:avLst/>
          </a:prstGeom>
          <a:solidFill>
            <a:srgbClr val="031028"/>
          </a:solidFill>
          <a:ln w="152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4572" bIns="457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40280" y="3136392"/>
            <a:ext cx="731520" cy="0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92040" y="2743200"/>
            <a:ext cx="1234440" cy="786384"/>
          </a:xfrm>
          <a:prstGeom prst="roundRect">
            <a:avLst/>
          </a:prstGeom>
          <a:solidFill>
            <a:srgbClr val="31BDC8"/>
          </a:solidFill>
          <a:ln w="15240">
            <a:solidFill>
              <a:srgbClr val="31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Call MCP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45736" y="2596896"/>
            <a:ext cx="310896" cy="310896"/>
          </a:xfrm>
          <a:prstGeom prst="roundRect">
            <a:avLst/>
          </a:prstGeom>
          <a:solidFill>
            <a:srgbClr val="031028"/>
          </a:solidFill>
          <a:ln w="152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4572" bIns="457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06240" y="3136392"/>
            <a:ext cx="685800" cy="0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12280" y="2743200"/>
            <a:ext cx="1234440" cy="786384"/>
          </a:xfrm>
          <a:prstGeom prst="roundRect">
            <a:avLst/>
          </a:prstGeom>
          <a:solidFill>
            <a:srgbClr val="5ED2AA"/>
          </a:solidFill>
          <a:ln w="15240">
            <a:solidFill>
              <a:srgbClr val="5E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Execute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action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5976" y="2596896"/>
            <a:ext cx="310896" cy="310896"/>
          </a:xfrm>
          <a:prstGeom prst="roundRect">
            <a:avLst/>
          </a:prstGeom>
          <a:solidFill>
            <a:srgbClr val="031028"/>
          </a:solidFill>
          <a:ln w="152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4572" bIns="457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26480" y="3136392"/>
            <a:ext cx="685800" cy="0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732520" y="2743200"/>
            <a:ext cx="1234440" cy="786384"/>
          </a:xfrm>
          <a:prstGeom prst="roundRect">
            <a:avLst/>
          </a:prstGeom>
          <a:solidFill>
            <a:srgbClr val="FFB84D"/>
          </a:solidFill>
          <a:ln w="15240"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Return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86216" y="2596896"/>
            <a:ext cx="310896" cy="310896"/>
          </a:xfrm>
          <a:prstGeom prst="roundRect">
            <a:avLst/>
          </a:prstGeom>
          <a:solidFill>
            <a:srgbClr val="031028"/>
          </a:solidFill>
          <a:ln w="152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4572" bIns="4572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46720" y="3136392"/>
            <a:ext cx="685800" cy="0"/>
          </a:xfrm>
          <a:prstGeom prst="line">
            <a:avLst/>
          </a:prstGeom>
          <a:ln w="25400">
            <a:solidFill>
              <a:srgbClr val="6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51560" y="4160520"/>
            <a:ext cx="9418320" cy="329184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MCP standardizes how the agent sees tools, reads resources, invokes actions, and receives structured output.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4983480"/>
            <a:ext cx="1508760" cy="384048"/>
          </a:xfrm>
          <a:prstGeom prst="roundRect">
            <a:avLst/>
          </a:prstGeom>
          <a:solidFill>
            <a:srgbClr val="11264D"/>
          </a:solidFill>
          <a:ln w="15240">
            <a:solidFill>
              <a:srgbClr val="46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Client / Agent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06040" y="5175504"/>
            <a:ext cx="731520" cy="0"/>
          </a:xfrm>
          <a:prstGeom prst="line">
            <a:avLst/>
          </a:prstGeom>
          <a:ln w="2286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37560" y="4983480"/>
            <a:ext cx="1508760" cy="384048"/>
          </a:xfrm>
          <a:prstGeom prst="roundRect">
            <a:avLst/>
          </a:prstGeom>
          <a:solidFill>
            <a:srgbClr val="11264D"/>
          </a:solidFill>
          <a:ln w="15240">
            <a:solidFill>
              <a:srgbClr val="78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MCP Protocol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46320" y="5175504"/>
            <a:ext cx="685800" cy="0"/>
          </a:xfrm>
          <a:prstGeom prst="line">
            <a:avLst/>
          </a:prstGeom>
          <a:ln w="2286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532120" y="4983480"/>
            <a:ext cx="1508760" cy="384048"/>
          </a:xfrm>
          <a:prstGeom prst="roundRect">
            <a:avLst/>
          </a:prstGeom>
          <a:solidFill>
            <a:srgbClr val="11264D"/>
          </a:solidFill>
          <a:ln w="15240">
            <a:solidFill>
              <a:srgbClr val="31BD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MCP Server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40880" y="5175504"/>
            <a:ext cx="960120" cy="0"/>
          </a:xfrm>
          <a:prstGeom prst="line">
            <a:avLst/>
          </a:prstGeom>
          <a:ln w="2286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001000" y="4983480"/>
            <a:ext cx="1508760" cy="384048"/>
          </a:xfrm>
          <a:prstGeom prst="roundRect">
            <a:avLst/>
          </a:prstGeom>
          <a:solidFill>
            <a:srgbClr val="11264D"/>
          </a:solidFill>
          <a:ln w="15240">
            <a:solidFill>
              <a:srgbClr val="5ED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3716" bIns="13716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External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327648"/>
            <a:ext cx="5852160" cy="256032"/>
          </a:xfrm>
          <a:prstGeom prst="rect">
            <a:avLst/>
          </a:prstGeom>
          <a:noFill/>
        </p:spPr>
        <p:txBody>
          <a:bodyPr wrap="none" anchor="ctr" lIns="18288" rIns="18288" tIns="9144" bIns="9144">
            <a:spAutoFit/>
          </a:bodyPr>
          <a:lstStyle/>
          <a:p>
            <a:pPr algn="l"/>
            <a:r>
              <a:rPr sz="1000" b="1">
                <a:solidFill>
                  <a:srgbClr val="57E1FF"/>
                </a:solidFill>
              </a:rPr>
              <a:t>Good for: files, databases, APIs, GitHub, Slack, cloud systems and internal tools.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652760" y="182880"/>
            <a:ext cx="2011680" cy="178308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1045952" y="713232"/>
            <a:ext cx="1417320" cy="1261872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3931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5F7FA"/>
                </a:solidFill>
              </a:rPr>
              <a:t>Agent Harness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896112"/>
            <a:ext cx="50292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B8C6DD"/>
                </a:solidFill>
              </a:rPr>
              <a:t>How an agent harness coordinates reasoning, tools, state, controls, and output.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234440"/>
            <a:ext cx="164592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94760" y="182880"/>
            <a:ext cx="3246120" cy="603504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/>
            <a:r>
              <a:rPr sz="1600" b="1">
                <a:solidFill>
                  <a:srgbClr val="F5F7FA"/>
                </a:solidFill>
              </a:rPr>
              <a:t>USER / GOAL</a:t>
            </a:r>
          </a:p>
          <a:p>
            <a:pPr algn="ctr"/>
            <a:r>
              <a:rPr sz="1080">
                <a:solidFill>
                  <a:srgbClr val="B8C6DD"/>
                </a:solidFill>
              </a:rPr>
              <a:t>Deploy this architecture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13248" y="786384"/>
            <a:ext cx="0" cy="630936"/>
          </a:xfrm>
          <a:prstGeom prst="line">
            <a:avLst/>
          </a:prstGeom>
          <a:ln w="2794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0040" y="1417320"/>
            <a:ext cx="11247120" cy="4315968"/>
          </a:xfrm>
          <a:prstGeom prst="roundRect">
            <a:avLst/>
          </a:prstGeom>
          <a:solidFill>
            <a:srgbClr val="0B1E3F"/>
          </a:solidFill>
          <a:ln w="2286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536192"/>
            <a:ext cx="3291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5F7FA"/>
                </a:solidFill>
              </a:rPr>
              <a:t>AGENT HARNESS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1773936"/>
            <a:ext cx="3200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B8C6DD"/>
                </a:solidFill>
              </a:rPr>
              <a:t>Plan. Use tools. Take action. Achieve the goal.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938528"/>
            <a:ext cx="1755648" cy="877824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/>
          <a:lstStyle/>
          <a:p>
            <a:pPr algn="l"/>
            <a:r>
              <a:rPr sz="1400" b="1">
                <a:solidFill>
                  <a:srgbClr val="57E1FF"/>
                </a:solidFill>
              </a:rPr>
              <a:t>INPUT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intent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goal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constraints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44368"/>
            <a:ext cx="1755648" cy="877824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/>
          <a:lstStyle/>
          <a:p>
            <a:pPr algn="l"/>
            <a:r>
              <a:rPr sz="1400" b="1">
                <a:solidFill>
                  <a:srgbClr val="57E1FF"/>
                </a:solidFill>
              </a:rPr>
              <a:t>CONTEXT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prompts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architecture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docs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950208"/>
            <a:ext cx="1755648" cy="877824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/>
          <a:lstStyle/>
          <a:p>
            <a:pPr algn="l"/>
            <a:r>
              <a:rPr sz="1400" b="1">
                <a:solidFill>
                  <a:srgbClr val="57E1FF"/>
                </a:solidFill>
              </a:rPr>
              <a:t>MEMORY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working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long-term</a:t>
            </a:r>
          </a:p>
          <a:p>
            <a:pPr algn="l"/>
            <a:r>
              <a:rPr sz="1019">
                <a:solidFill>
                  <a:srgbClr val="F5F7FA"/>
                </a:solidFill>
              </a:rPr>
              <a:t>• past results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80744" y="2816352"/>
            <a:ext cx="0" cy="128016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80744" y="3822191"/>
            <a:ext cx="0" cy="128017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58568" y="2377440"/>
            <a:ext cx="896112" cy="0"/>
          </a:xfrm>
          <a:prstGeom prst="line">
            <a:avLst/>
          </a:prstGeom>
          <a:ln w="2286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58568" y="3383280"/>
            <a:ext cx="484632" cy="0"/>
          </a:xfrm>
          <a:prstGeom prst="line">
            <a:avLst/>
          </a:prstGeom>
          <a:ln w="2286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258568" y="4389120"/>
            <a:ext cx="1078992" cy="0"/>
          </a:xfrm>
          <a:prstGeom prst="line">
            <a:avLst/>
          </a:prstGeom>
          <a:ln w="2286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154680" y="1938528"/>
            <a:ext cx="2240280" cy="950976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/>
          <a:lstStyle/>
          <a:p>
            <a:pPr algn="l"/>
            <a:r>
              <a:rPr sz="1400" b="1">
                <a:solidFill>
                  <a:srgbClr val="57E1FF"/>
                </a:solidFill>
              </a:rPr>
              <a:t>REASONING</a:t>
            </a:r>
          </a:p>
          <a:p>
            <a:pPr algn="l"/>
            <a:r>
              <a:rPr sz="1010">
                <a:solidFill>
                  <a:srgbClr val="F5F7FA"/>
                </a:solidFill>
              </a:rPr>
              <a:t>• LLM</a:t>
            </a:r>
          </a:p>
          <a:p>
            <a:pPr algn="l"/>
            <a:r>
              <a:rPr sz="1010">
                <a:solidFill>
                  <a:srgbClr val="F5F7FA"/>
                </a:solidFill>
              </a:rPr>
              <a:t>• planning</a:t>
            </a:r>
          </a:p>
          <a:p>
            <a:pPr algn="l"/>
            <a:r>
              <a:rPr sz="1010">
                <a:solidFill>
                  <a:srgbClr val="F5F7FA"/>
                </a:solidFill>
              </a:rPr>
              <a:t>• tool selection</a:t>
            </a:r>
          </a:p>
          <a:p>
            <a:pPr algn="l"/>
            <a:r>
              <a:rPr sz="1010">
                <a:solidFill>
                  <a:srgbClr val="F5F7FA"/>
                </a:solidFill>
              </a:rPr>
              <a:t>• re-planning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70248" y="2889504"/>
            <a:ext cx="0" cy="155448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606040" y="3035808"/>
            <a:ext cx="3794760" cy="1444752"/>
          </a:xfrm>
          <a:prstGeom prst="roundRect">
            <a:avLst/>
          </a:prstGeom>
          <a:solidFill>
            <a:srgbClr val="0F2245"/>
          </a:solidFill>
          <a:ln w="2032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0752" y="3172968"/>
            <a:ext cx="1554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</a:rPr>
              <a:t>EXECUTION LOOP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3657600"/>
            <a:ext cx="502920" cy="237744"/>
          </a:xfrm>
          <a:prstGeom prst="roundRect">
            <a:avLst/>
          </a:prstGeom>
          <a:solidFill>
            <a:srgbClr val="11264D"/>
          </a:solidFill>
          <a:ln w="13970">
            <a:solidFill>
              <a:srgbClr val="71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10" b="1">
                <a:solidFill>
                  <a:srgbClr val="F5F7FA"/>
                </a:solidFill>
              </a:rPr>
              <a:t>Observe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37560" y="3776472"/>
            <a:ext cx="210312" cy="0"/>
          </a:xfrm>
          <a:prstGeom prst="line">
            <a:avLst/>
          </a:prstGeom>
          <a:ln w="1905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547872" y="3657600"/>
            <a:ext cx="502920" cy="237744"/>
          </a:xfrm>
          <a:prstGeom prst="roundRect">
            <a:avLst/>
          </a:prstGeom>
          <a:solidFill>
            <a:srgbClr val="11264D"/>
          </a:solidFill>
          <a:ln w="13970">
            <a:solidFill>
              <a:srgbClr val="71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10" b="1">
                <a:solidFill>
                  <a:srgbClr val="F5F7FA"/>
                </a:solidFill>
              </a:rPr>
              <a:t>Reason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50792" y="3776472"/>
            <a:ext cx="210312" cy="0"/>
          </a:xfrm>
          <a:prstGeom prst="line">
            <a:avLst/>
          </a:prstGeom>
          <a:ln w="1905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261104" y="3657600"/>
            <a:ext cx="502920" cy="237744"/>
          </a:xfrm>
          <a:prstGeom prst="roundRect">
            <a:avLst/>
          </a:prstGeom>
          <a:solidFill>
            <a:srgbClr val="11264D"/>
          </a:solidFill>
          <a:ln w="13970">
            <a:solidFill>
              <a:srgbClr val="71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10" b="1">
                <a:solidFill>
                  <a:srgbClr val="F5F7FA"/>
                </a:solidFill>
              </a:rPr>
              <a:t>Plan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764024" y="3776472"/>
            <a:ext cx="210312" cy="0"/>
          </a:xfrm>
          <a:prstGeom prst="line">
            <a:avLst/>
          </a:prstGeom>
          <a:ln w="1905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974336" y="3657600"/>
            <a:ext cx="502920" cy="237744"/>
          </a:xfrm>
          <a:prstGeom prst="roundRect">
            <a:avLst/>
          </a:prstGeom>
          <a:solidFill>
            <a:srgbClr val="11264D"/>
          </a:solidFill>
          <a:ln w="13970">
            <a:solidFill>
              <a:srgbClr val="71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10" b="1">
                <a:solidFill>
                  <a:srgbClr val="F5F7FA"/>
                </a:solidFill>
              </a:rPr>
              <a:t>Act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77256" y="3776472"/>
            <a:ext cx="210312" cy="0"/>
          </a:xfrm>
          <a:prstGeom prst="line">
            <a:avLst/>
          </a:prstGeom>
          <a:ln w="1905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687568" y="3657600"/>
            <a:ext cx="502920" cy="237744"/>
          </a:xfrm>
          <a:prstGeom prst="roundRect">
            <a:avLst/>
          </a:prstGeom>
          <a:solidFill>
            <a:srgbClr val="11264D"/>
          </a:solidFill>
          <a:ln w="13970">
            <a:solidFill>
              <a:srgbClr val="71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/>
            <a:r>
              <a:rPr sz="810" b="1">
                <a:solidFill>
                  <a:srgbClr val="F5F7FA"/>
                </a:solidFill>
              </a:rPr>
              <a:t>Evaluate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77256" y="3895344"/>
            <a:ext cx="0" cy="164592"/>
          </a:xfrm>
          <a:prstGeom prst="line">
            <a:avLst/>
          </a:prstGeom>
          <a:ln w="2032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337560" y="4059936"/>
            <a:ext cx="2139696" cy="0"/>
          </a:xfrm>
          <a:prstGeom prst="line">
            <a:avLst/>
          </a:prstGeom>
          <a:ln w="2032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337560" y="3895344"/>
            <a:ext cx="0" cy="164592"/>
          </a:xfrm>
          <a:prstGeom prst="line">
            <a:avLst/>
          </a:prstGeom>
          <a:ln w="20320">
            <a:solidFill>
              <a:srgbClr val="71A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794760" y="4160520"/>
            <a:ext cx="1371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40" b="0">
                <a:solidFill>
                  <a:srgbClr val="B8C6DD"/>
                </a:solidFill>
              </a:rPr>
              <a:t>continue / stop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1993392"/>
            <a:ext cx="1993392" cy="1005840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/>
          <a:lstStyle/>
          <a:p>
            <a:pPr algn="l"/>
            <a:r>
              <a:rPr sz="1400" b="1">
                <a:solidFill>
                  <a:srgbClr val="57E1FF"/>
                </a:solidFill>
              </a:rPr>
              <a:t>TOOLS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Bicep / Terraform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Azure CLI / kubectl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APIs / DB / Search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files / code execution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21040" y="3493008"/>
            <a:ext cx="1993392" cy="896112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/>
          <a:lstStyle/>
          <a:p>
            <a:pPr algn="l"/>
            <a:r>
              <a:rPr sz="1400" b="1">
                <a:solidFill>
                  <a:srgbClr val="57E1FF"/>
                </a:solidFill>
              </a:rPr>
              <a:t>STATE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workflow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resources</a:t>
            </a:r>
          </a:p>
          <a:p>
            <a:pPr algn="l"/>
            <a:r>
              <a:rPr sz="1000">
                <a:solidFill>
                  <a:srgbClr val="F5F7FA"/>
                </a:solidFill>
              </a:rPr>
              <a:t>• checkpoints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400800" y="3685032"/>
            <a:ext cx="1481327" cy="0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882127" y="2505456"/>
            <a:ext cx="0" cy="1179576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882127" y="2505456"/>
            <a:ext cx="438913" cy="0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882127" y="3685032"/>
            <a:ext cx="438913" cy="0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58368" y="4956048"/>
            <a:ext cx="1508760" cy="640080"/>
          </a:xfrm>
          <a:prstGeom prst="roundRect">
            <a:avLst/>
          </a:prstGeom>
          <a:solidFill>
            <a:srgbClr val="11264D"/>
          </a:solidFill>
          <a:ln w="1651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/>
          <a:lstStyle/>
          <a:p>
            <a:pPr algn="ctr"/>
            <a:r>
              <a:rPr sz="1050" b="1">
                <a:solidFill>
                  <a:srgbClr val="4C7FFF"/>
                </a:solidFill>
              </a:rPr>
              <a:t>GUARDRAILS</a:t>
            </a:r>
          </a:p>
          <a:p>
            <a:pPr algn="ctr"/>
            <a:r>
              <a:rPr sz="740">
                <a:solidFill>
                  <a:srgbClr val="B8C6DD"/>
                </a:solidFill>
              </a:rPr>
              <a:t>RBAC • secrets • approvals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31720" y="4956048"/>
            <a:ext cx="1554480" cy="640080"/>
          </a:xfrm>
          <a:prstGeom prst="roundRect">
            <a:avLst/>
          </a:prstGeom>
          <a:solidFill>
            <a:srgbClr val="11264D"/>
          </a:solidFill>
          <a:ln w="16510">
            <a:solidFill>
              <a:srgbClr val="56C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/>
          <a:lstStyle/>
          <a:p>
            <a:pPr algn="ctr"/>
            <a:r>
              <a:rPr sz="1050" b="1">
                <a:solidFill>
                  <a:srgbClr val="56C98F"/>
                </a:solidFill>
              </a:rPr>
              <a:t>VALIDATION</a:t>
            </a:r>
          </a:p>
          <a:p>
            <a:pPr algn="ctr"/>
            <a:r>
              <a:rPr sz="740">
                <a:solidFill>
                  <a:srgbClr val="B8C6DD"/>
                </a:solidFill>
              </a:rPr>
              <a:t>rules • quality • success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014215" y="4956048"/>
            <a:ext cx="1554480" cy="640080"/>
          </a:xfrm>
          <a:prstGeom prst="roundRect">
            <a:avLst/>
          </a:prstGeom>
          <a:solidFill>
            <a:srgbClr val="11264D"/>
          </a:solidFill>
          <a:ln w="16510">
            <a:solidFill>
              <a:srgbClr val="E2A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/>
          <a:lstStyle/>
          <a:p>
            <a:pPr algn="ctr"/>
            <a:r>
              <a:rPr sz="1050" b="1">
                <a:solidFill>
                  <a:srgbClr val="E2AE3B"/>
                </a:solidFill>
              </a:rPr>
              <a:t>RECOVERY</a:t>
            </a:r>
          </a:p>
          <a:p>
            <a:pPr algn="ctr"/>
            <a:r>
              <a:rPr sz="740">
                <a:solidFill>
                  <a:srgbClr val="B8C6DD"/>
                </a:solidFill>
              </a:rPr>
              <a:t>retry • rollback • resume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60720" y="4956048"/>
            <a:ext cx="1828800" cy="640080"/>
          </a:xfrm>
          <a:prstGeom prst="roundRect">
            <a:avLst/>
          </a:prstGeom>
          <a:solidFill>
            <a:srgbClr val="11264D"/>
          </a:solidFill>
          <a:ln w="16510">
            <a:solidFill>
              <a:srgbClr val="B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/>
          <a:lstStyle/>
          <a:p>
            <a:pPr algn="ctr"/>
            <a:r>
              <a:rPr sz="1050" b="1">
                <a:solidFill>
                  <a:srgbClr val="B08BFF"/>
                </a:solidFill>
              </a:rPr>
              <a:t>HUMAN REVIEW</a:t>
            </a:r>
          </a:p>
          <a:p>
            <a:pPr algn="ctr"/>
            <a:r>
              <a:rPr sz="740">
                <a:solidFill>
                  <a:srgbClr val="B8C6DD"/>
                </a:solidFill>
              </a:rPr>
              <a:t>clarify • approve • override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73568" y="4956048"/>
            <a:ext cx="1828800" cy="640080"/>
          </a:xfrm>
          <a:prstGeom prst="roundRect">
            <a:avLst/>
          </a:prstGeom>
          <a:solidFill>
            <a:srgbClr val="11264D"/>
          </a:solidFill>
          <a:ln w="16510">
            <a:solidFill>
              <a:srgbClr val="58A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54864"/>
          <a:lstStyle/>
          <a:p>
            <a:pPr algn="ctr"/>
            <a:r>
              <a:rPr sz="1050" b="1">
                <a:solidFill>
                  <a:srgbClr val="58A8F5"/>
                </a:solidFill>
              </a:rPr>
              <a:t>OBSERVABILITY</a:t>
            </a:r>
          </a:p>
          <a:p>
            <a:pPr algn="ctr"/>
            <a:r>
              <a:rPr sz="740">
                <a:solidFill>
                  <a:srgbClr val="B8C6DD"/>
                </a:solidFill>
              </a:rPr>
              <a:t>logs • traces • metrics • cost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97280" y="4846320"/>
            <a:ext cx="8915400" cy="0"/>
          </a:xfrm>
          <a:prstGeom prst="line">
            <a:avLst/>
          </a:prstGeom>
          <a:ln w="2159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413248" y="4480560"/>
            <a:ext cx="0" cy="365760"/>
          </a:xfrm>
          <a:prstGeom prst="line">
            <a:avLst/>
          </a:prstGeom>
          <a:ln w="2159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749039" y="5989320"/>
            <a:ext cx="3520440" cy="502920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377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/>
          <a:lstStyle/>
          <a:p>
            <a:pPr algn="ctr"/>
            <a:r>
              <a:rPr sz="1700" b="1">
                <a:solidFill>
                  <a:srgbClr val="F5F7FA"/>
                </a:solidFill>
              </a:rPr>
              <a:t>OUTPUT</a:t>
            </a:r>
          </a:p>
          <a:p>
            <a:pPr algn="ctr"/>
            <a:r>
              <a:rPr sz="919">
                <a:solidFill>
                  <a:srgbClr val="B8C6DD"/>
                </a:solidFill>
              </a:rPr>
              <a:t>artifacts • deployment result • summary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413248" y="5733288"/>
            <a:ext cx="0" cy="256032"/>
          </a:xfrm>
          <a:prstGeom prst="line">
            <a:avLst/>
          </a:prstGeom>
          <a:ln w="24130">
            <a:solidFill>
              <a:srgbClr val="37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1064240" y="6400800"/>
            <a:ext cx="54864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11480"/>
            <a:ext cx="6217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</a:rPr>
              <a:t>A2A: Agent-to-Agent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60120"/>
            <a:ext cx="7589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A protocol pattern where one AI agent delegates work to another specialist agent.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89888"/>
            <a:ext cx="169164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37376"/>
            <a:ext cx="457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74519"/>
            <a:ext cx="4434840" cy="3794760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331720"/>
            <a:ext cx="438912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1343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</a:rPr>
              <a:t>Agents discover each other and understand capabilities.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273552"/>
            <a:ext cx="438912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55264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</a:rPr>
              <a:t>A lead agent sends a task, context, constraints and expected output.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297680"/>
            <a:ext cx="438912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79392"/>
            <a:ext cx="3246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</a:rPr>
              <a:t>Specialist agents return progress, results or ask for clarification.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97880"/>
            <a:ext cx="4937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7E1FF"/>
                </a:solidFill>
              </a:rPr>
              <a:t>Core idea: MCP connects agents to tools; A2A connects agents to agents.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1691640"/>
            <a:ext cx="6172200" cy="4526280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1938528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57E1FF"/>
                </a:solidFill>
              </a:rPr>
              <a:t>How A2A works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2788920"/>
            <a:ext cx="1234440" cy="868680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5F7FA"/>
                </a:solidFill>
              </a:rPr>
              <a:t>Lead</a:t>
            </a:r>
          </a:p>
          <a:p>
            <a:pPr algn="ctr"/>
            <a:r>
              <a:rPr sz="1500" b="1">
                <a:solidFill>
                  <a:srgbClr val="F5F7FA"/>
                </a:solidFill>
              </a:rPr>
              <a:t>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2514600"/>
            <a:ext cx="1554480" cy="1417320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5F7FA"/>
                </a:solidFill>
              </a:rPr>
              <a:t>A2A</a:t>
            </a:r>
          </a:p>
          <a:p>
            <a:pPr algn="ctr"/>
            <a:r>
              <a:rPr sz="1500" b="1">
                <a:solidFill>
                  <a:srgbClr val="F5F7FA"/>
                </a:solidFill>
              </a:rPr>
              <a:t>Protocol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46920" y="2194560"/>
            <a:ext cx="1417320" cy="640080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5F7FA"/>
                </a:solidFill>
              </a:rPr>
              <a:t>Research</a:t>
            </a:r>
          </a:p>
          <a:p>
            <a:pPr algn="ctr"/>
            <a:r>
              <a:rPr sz="1250" b="1">
                <a:solidFill>
                  <a:srgbClr val="F5F7FA"/>
                </a:solidFill>
              </a:rPr>
              <a:t>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3154680"/>
            <a:ext cx="1417320" cy="640080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5F7FA"/>
                </a:solidFill>
              </a:rPr>
              <a:t>Code</a:t>
            </a:r>
          </a:p>
          <a:p>
            <a:pPr algn="ctr"/>
            <a:r>
              <a:rPr sz="1250" b="1">
                <a:solidFill>
                  <a:srgbClr val="F5F7FA"/>
                </a:solidFill>
              </a:rPr>
              <a:t>Agent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4114800"/>
            <a:ext cx="1417320" cy="640080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5F7FA"/>
                </a:solidFill>
              </a:rPr>
              <a:t>Review</a:t>
            </a:r>
          </a:p>
          <a:p>
            <a:pPr algn="ctr"/>
            <a:r>
              <a:rPr sz="1250" b="1">
                <a:solidFill>
                  <a:srgbClr val="F5F7FA"/>
                </a:solidFill>
              </a:rPr>
              <a:t>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5148072"/>
            <a:ext cx="2011680" cy="347472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5F7FA"/>
                </a:solidFill>
              </a:rPr>
              <a:t>Progress + result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4315968"/>
            <a:ext cx="1170432" cy="347472"/>
          </a:xfrm>
          <a:prstGeom prst="roundRect">
            <a:avLst/>
          </a:prstGeom>
          <a:solidFill>
            <a:srgbClr val="F65F76"/>
          </a:solidFill>
          <a:ln w="12700">
            <a:solidFill>
              <a:srgbClr val="F65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5F7FA"/>
                </a:solidFill>
              </a:rPr>
              <a:t>Task + 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4315968"/>
            <a:ext cx="1600200" cy="347472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5F7FA"/>
                </a:solidFill>
              </a:rPr>
              <a:t>Delegate / negotiate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086600" y="3227832"/>
            <a:ext cx="365760" cy="0"/>
          </a:xfrm>
          <a:prstGeom prst="line">
            <a:avLst/>
          </a:prstGeom>
          <a:ln w="29209">
            <a:solidFill>
              <a:srgbClr val="6E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006840" y="2514600"/>
            <a:ext cx="640080" cy="713232"/>
          </a:xfrm>
          <a:prstGeom prst="line">
            <a:avLst/>
          </a:prstGeom>
          <a:ln w="29209">
            <a:solidFill>
              <a:srgbClr val="6E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06840" y="3227832"/>
            <a:ext cx="640080" cy="246888"/>
          </a:xfrm>
          <a:prstGeom prst="line">
            <a:avLst/>
          </a:prstGeom>
          <a:ln w="29209">
            <a:solidFill>
              <a:srgbClr val="6E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006840" y="3227832"/>
            <a:ext cx="640080" cy="1207008"/>
          </a:xfrm>
          <a:prstGeom prst="line">
            <a:avLst/>
          </a:prstGeom>
          <a:ln w="29209">
            <a:solidFill>
              <a:srgbClr val="6E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126480" y="3657600"/>
            <a:ext cx="182880" cy="658368"/>
          </a:xfrm>
          <a:prstGeom prst="line">
            <a:avLst/>
          </a:prstGeom>
          <a:ln w="27940">
            <a:solidFill>
              <a:srgbClr val="5CD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793992" y="4489704"/>
            <a:ext cx="475488" cy="0"/>
          </a:xfrm>
          <a:prstGeom prst="line">
            <a:avLst/>
          </a:prstGeom>
          <a:ln w="27940">
            <a:solidFill>
              <a:srgbClr val="5CD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247888" y="3931920"/>
            <a:ext cx="0" cy="384048"/>
          </a:xfrm>
          <a:prstGeom prst="line">
            <a:avLst/>
          </a:prstGeom>
          <a:ln w="27940">
            <a:solidFill>
              <a:srgbClr val="5CD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0149840" y="4754880"/>
            <a:ext cx="201168" cy="393192"/>
          </a:xfrm>
          <a:prstGeom prst="line">
            <a:avLst/>
          </a:prstGeom>
          <a:ln w="27940">
            <a:solidFill>
              <a:srgbClr val="5CD7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852160" y="5687568"/>
            <a:ext cx="5074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0">
                <a:solidFill>
                  <a:srgbClr val="B8C6DD"/>
                </a:solidFill>
              </a:rPr>
              <a:t>Each agent can remain independent, use its own tools, and return structured results to the lead agent.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4754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</a:rPr>
              <a:t>Agent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14400"/>
            <a:ext cx="7498079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A discoverable JSON profile that tells other agents how to call this agent.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16736"/>
            <a:ext cx="123444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6428232"/>
            <a:ext cx="3200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64208"/>
            <a:ext cx="3154680" cy="1554480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74519"/>
            <a:ext cx="2377440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57E1FF"/>
                </a:solidFill>
              </a:rPr>
              <a:t>What is an Agent Card?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67128"/>
            <a:ext cx="2487168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5F7FA"/>
                </a:solidFill>
              </a:rPr>
              <a:t>• Public contract: name, endpoint, request shape</a:t>
            </a:r>
          </a:p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5F7FA"/>
                </a:solidFill>
              </a:rPr>
              <a:t>• Exposed from a .well-known URL for discovery</a:t>
            </a:r>
          </a:p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F5F7FA"/>
                </a:solidFill>
              </a:rPr>
              <a:t>• Tells a lead agent how to call this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13632" y="1664208"/>
            <a:ext cx="6903720" cy="1554480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874519"/>
            <a:ext cx="2926080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57E1FF"/>
                </a:solidFill>
              </a:rPr>
              <a:t>Discovery + Invocation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2221992"/>
            <a:ext cx="1005840" cy="457200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50" b="1">
                <a:solidFill>
                  <a:srgbClr val="F5F7FA"/>
                </a:solidFill>
              </a:rPr>
              <a:t>Lead</a:t>
            </a:r>
          </a:p>
          <a:p>
            <a:pPr algn="ctr"/>
            <a:r>
              <a:rPr sz="1050" b="1">
                <a:solidFill>
                  <a:srgbClr val="F5F7FA"/>
                </a:solidFill>
              </a:rPr>
              <a:t>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0992" y="2112264"/>
            <a:ext cx="1783080" cy="676656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69" b="1">
                <a:solidFill>
                  <a:srgbClr val="F5F7FA"/>
                </a:solidFill>
              </a:rPr>
              <a:t>.well-known</a:t>
            </a:r>
          </a:p>
          <a:p>
            <a:pPr algn="ctr"/>
            <a:r>
              <a:rPr sz="969" b="1">
                <a:solidFill>
                  <a:srgbClr val="F5F7FA"/>
                </a:solidFill>
              </a:rPr>
              <a:t>agent-card.json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2112264"/>
            <a:ext cx="1737360" cy="676656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80" b="1">
                <a:solidFill>
                  <a:srgbClr val="F5F7FA"/>
                </a:solidFill>
              </a:rPr>
              <a:t>Weather</a:t>
            </a:r>
          </a:p>
          <a:p>
            <a:pPr algn="ctr"/>
            <a:r>
              <a:rPr sz="1080" b="1">
                <a:solidFill>
                  <a:srgbClr val="F5F7FA"/>
                </a:solidFill>
              </a:rPr>
              <a:t>Agent API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13248" y="2450592"/>
            <a:ext cx="237744" cy="0"/>
          </a:xfrm>
          <a:prstGeom prst="line">
            <a:avLst/>
          </a:prstGeom>
          <a:ln w="2540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34072" y="2450592"/>
            <a:ext cx="1115568" cy="0"/>
          </a:xfrm>
          <a:prstGeom prst="line">
            <a:avLst/>
          </a:prstGeom>
          <a:ln w="2540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16752" y="2761488"/>
            <a:ext cx="1005840" cy="146304"/>
          </a:xfrm>
          <a:prstGeom prst="roundRect">
            <a:avLst/>
          </a:prstGeom>
          <a:solidFill>
            <a:srgbClr val="5BC99F"/>
          </a:solidFill>
          <a:ln w="1143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700" b="1">
                <a:solidFill>
                  <a:srgbClr val="F5F7FA"/>
                </a:solidFill>
              </a:rPr>
              <a:t>discover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761488"/>
            <a:ext cx="1005840" cy="146304"/>
          </a:xfrm>
          <a:prstGeom prst="roundRect">
            <a:avLst/>
          </a:prstGeom>
          <a:solidFill>
            <a:srgbClr val="F4B44C"/>
          </a:solidFill>
          <a:ln w="1143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700" b="1">
                <a:solidFill>
                  <a:srgbClr val="F5F7FA"/>
                </a:solidFill>
              </a:rPr>
              <a:t>invoke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273552"/>
            <a:ext cx="10250424" cy="2999232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438144"/>
            <a:ext cx="40233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57E1FF"/>
                </a:solidFill>
              </a:rPr>
              <a:t>Sample agent-card + request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712464"/>
            <a:ext cx="9784080" cy="237744"/>
          </a:xfrm>
          <a:prstGeom prst="roundRect">
            <a:avLst/>
          </a:prstGeom>
          <a:solidFill>
            <a:srgbClr val="0F1E3C"/>
          </a:solidFill>
          <a:ln w="1016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980" b="0">
                <a:solidFill>
                  <a:srgbClr val="F5F7FA"/>
                </a:solidFill>
              </a:rPr>
              <a:t>curl http://127.0.0.1:3010/.well-known/agent-card.json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" y="3986784"/>
            <a:ext cx="9802368" cy="2194560"/>
          </a:xfrm>
          <a:prstGeom prst="roundRect">
            <a:avLst/>
          </a:prstGeom>
          <a:solidFill>
            <a:srgbClr val="071630"/>
          </a:solidFill>
          <a:ln w="1270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4050792"/>
            <a:ext cx="9354312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{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"agent": "weather-agent",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"url": "http://127.0.0.1:3010/a2a/weather",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"request": {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"jsonrpc": "2.0",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"id": "weather-call-1789605633597",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"method": "message/send",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"params": {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"message": {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  "role": "user",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  "parts": [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    { "kind": "text", "text": "Get current weather for Singapore." }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  ],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  "metadata": { "city": "Singapore" }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  }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  }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  }</a:t>
            </a:r>
          </a:p>
          <a:p>
            <a:pPr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F5F7FA"/>
                </a:solidFill>
                <a:latin typeface="Courier New"/>
              </a:rP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6044183"/>
            <a:ext cx="905256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57E1FF"/>
                </a:solidFill>
              </a:rPr>
              <a:t>Invoke by POSTing this JSON-RPC payload to the URL above.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47548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</a:rPr>
              <a:t>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14400"/>
            <a:ext cx="7498079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Agents that plan, act, observe, and adapt to achieve goals using tools and state.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16736"/>
            <a:ext cx="123444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3200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00784"/>
            <a:ext cx="6080760" cy="4315968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01952"/>
            <a:ext cx="20116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57E1FF"/>
                </a:solidFill>
              </a:rPr>
              <a:t>Agentic AI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2395728"/>
            <a:ext cx="896112" cy="512064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Goal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05456" y="2267712"/>
            <a:ext cx="914400" cy="512064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58768" y="2670048"/>
            <a:ext cx="914400" cy="512064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18688" y="4005072"/>
            <a:ext cx="1078992" cy="512064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Observe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4407408"/>
            <a:ext cx="987552" cy="512064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Reflect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87168" y="3163824"/>
            <a:ext cx="1097280" cy="658368"/>
          </a:xfrm>
          <a:prstGeom prst="roundRect">
            <a:avLst/>
          </a:prstGeom>
          <a:solidFill>
            <a:srgbClr val="11264D"/>
          </a:solidFill>
          <a:ln w="1524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50" b="1">
                <a:solidFill>
                  <a:srgbClr val="F5F7FA"/>
                </a:solidFill>
              </a:rPr>
              <a:t>State</a:t>
            </a:r>
          </a:p>
          <a:p>
            <a:pPr algn="ctr"/>
            <a:r>
              <a:rPr sz="1050" b="1">
                <a:solidFill>
                  <a:srgbClr val="F5F7FA"/>
                </a:solidFill>
              </a:rPr>
              <a:t>+ 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4919472"/>
            <a:ext cx="987552" cy="420624"/>
          </a:xfrm>
          <a:prstGeom prst="roundRect">
            <a:avLst/>
          </a:prstGeom>
          <a:solidFill>
            <a:srgbClr val="F55C78"/>
          </a:solidFill>
          <a:ln w="12700">
            <a:solidFill>
              <a:srgbClr val="F5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Tools / APIs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27048" y="2066543"/>
            <a:ext cx="0" cy="329185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975104" y="2523744"/>
            <a:ext cx="530352" cy="128016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419856" y="2523744"/>
            <a:ext cx="438912" cy="402336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950208" y="3182112"/>
            <a:ext cx="365760" cy="822960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633472" y="4261104"/>
            <a:ext cx="585216" cy="329184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1527048" y="2907792"/>
            <a:ext cx="118872" cy="1682496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035808" y="2779776"/>
            <a:ext cx="0" cy="384048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584448" y="3822191"/>
            <a:ext cx="54864" cy="182881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315968" y="3182112"/>
            <a:ext cx="420624" cy="1737360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96112" y="5504688"/>
            <a:ext cx="5486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19" b="0">
                <a:solidFill>
                  <a:srgbClr val="B8C6DD"/>
                </a:solidFill>
              </a:rPr>
              <a:t>The agent repeatedly plans, acts, observes and updates state until the goal is achieved.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67728" y="1700784"/>
            <a:ext cx="3730752" cy="4315968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1920240"/>
            <a:ext cx="25603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57E1FF"/>
                </a:solidFill>
              </a:rPr>
              <a:t>What is Agentic AI?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2304288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1">
                <a:solidFill>
                  <a:srgbClr val="F5F7FA"/>
                </a:solidFill>
              </a:rPr>
              <a:t>• AI systems that do more than answer once — they pursue a goal across multiple steps.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5F7FA"/>
                </a:solidFill>
              </a:rPr>
              <a:t>• They can plan, choose actions, use tools, observe results, and adjust what to do next.</a:t>
            </a:r>
          </a:p>
          <a:p>
            <a:pPr algn="l">
              <a:spcAft>
                <a:spcPts val="900"/>
              </a:spcAft>
            </a:pPr>
            <a:r>
              <a:rPr sz="1200" b="1">
                <a:solidFill>
                  <a:srgbClr val="F5F7FA"/>
                </a:solidFill>
              </a:rPr>
              <a:t>• They rely on memory, state, and feedback loops to complete tasks more autonomously.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4937760"/>
            <a:ext cx="30175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30" b="1">
                <a:solidFill>
                  <a:srgbClr val="57E1FF"/>
                </a:solidFill>
              </a:rPr>
              <a:t>Core idea: an LLM becomes an active system, not just a one-shot responder.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7132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7FA"/>
                </a:solidFill>
              </a:rPr>
              <a:t>Agentic AI vs Harness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14400"/>
            <a:ext cx="9692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Agentic AI is the agent's decision-making behavior. Harness Engineering is the runtime system that makes the agent reliable in production.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16736"/>
            <a:ext cx="123444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3200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64208"/>
            <a:ext cx="4983480" cy="804672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847088"/>
            <a:ext cx="1737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57E1FF"/>
                </a:solidFill>
              </a:rPr>
              <a:t>Agentic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48256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</a:rPr>
              <a:t>Focuses on how the agent reasons, plans, chooses actions, and adapts.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664208"/>
            <a:ext cx="4983480" cy="804672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62472" y="1847088"/>
            <a:ext cx="2468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57E1FF"/>
                </a:solidFill>
              </a:rPr>
              <a:t>Harness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472" y="2048256"/>
            <a:ext cx="4572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</a:rPr>
              <a:t>Focuses on the outer runtime: tools, controls, memory, reliability, and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633472"/>
            <a:ext cx="10168128" cy="3255264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7824" y="2834640"/>
            <a:ext cx="4626864" cy="402336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1">
                <a:solidFill>
                  <a:srgbClr val="F5F7FA"/>
                </a:solidFill>
              </a:rPr>
              <a:t>Agentic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5312" y="2834640"/>
            <a:ext cx="4626864" cy="402336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1">
                <a:solidFill>
                  <a:srgbClr val="F5F7FA"/>
                </a:solidFill>
              </a:rPr>
              <a:t>Harness Engineering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" y="3328416"/>
            <a:ext cx="9674352" cy="173736"/>
          </a:xfrm>
          <a:prstGeom prst="roundRect">
            <a:avLst/>
          </a:prstGeom>
          <a:solidFill>
            <a:srgbClr val="0A1A37"/>
          </a:solidFill>
          <a:ln w="2540">
            <a:solidFill>
              <a:srgbClr val="0A1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" y="3502152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332988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Reasoning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3332988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Agent loop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3694176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525012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3525012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Tool registry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" y="3712464"/>
            <a:ext cx="9674352" cy="173736"/>
          </a:xfrm>
          <a:prstGeom prst="roundRect">
            <a:avLst/>
          </a:prstGeom>
          <a:solidFill>
            <a:srgbClr val="0A1A37"/>
          </a:solidFill>
          <a:ln w="2540">
            <a:solidFill>
              <a:srgbClr val="0A1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6112" y="3886200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717036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Choosing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3328" y="3717036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Tool execution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6112" y="4078224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909060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Re-planning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3328" y="3909060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State management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" y="4096512"/>
            <a:ext cx="9674352" cy="173736"/>
          </a:xfrm>
          <a:prstGeom prst="roundRect">
            <a:avLst/>
          </a:prstGeom>
          <a:solidFill>
            <a:srgbClr val="0A1A37"/>
          </a:solidFill>
          <a:ln w="2540">
            <a:solidFill>
              <a:srgbClr val="0A1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6112" y="4270248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101084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Using memory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53328" y="4101084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Memory implementation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" y="4462272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293108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Deciding next step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8" y="4293108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Context construction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24" y="4480560"/>
            <a:ext cx="9674352" cy="173736"/>
          </a:xfrm>
          <a:prstGeom prst="roundRect">
            <a:avLst/>
          </a:prstGeom>
          <a:solidFill>
            <a:srgbClr val="0A1A37"/>
          </a:solidFill>
          <a:ln w="2540">
            <a:solidFill>
              <a:srgbClr val="0A1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6112" y="4654296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485132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Determining completion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53328" y="4485132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Stop conditions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" y="4846320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4677156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53328" y="4677156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Retries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824" y="4864608"/>
            <a:ext cx="9674352" cy="173736"/>
          </a:xfrm>
          <a:prstGeom prst="roundRect">
            <a:avLst/>
          </a:prstGeom>
          <a:solidFill>
            <a:srgbClr val="0A1A37"/>
          </a:solidFill>
          <a:ln w="2540">
            <a:solidFill>
              <a:srgbClr val="0A1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6112" y="5038344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" y="4869180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53328" y="4869180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Approval gates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" y="5230368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40" y="5061204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53328" y="5061204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Security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7824" y="5248656"/>
            <a:ext cx="9674352" cy="173736"/>
          </a:xfrm>
          <a:prstGeom prst="roundRect">
            <a:avLst/>
          </a:prstGeom>
          <a:solidFill>
            <a:srgbClr val="0A1A37"/>
          </a:solidFill>
          <a:ln w="2540">
            <a:solidFill>
              <a:srgbClr val="0A1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96112" y="5422392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" y="5253228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3328" y="5253228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Observability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6112" y="5614416"/>
            <a:ext cx="9637776" cy="7315"/>
          </a:xfrm>
          <a:prstGeom prst="rect">
            <a:avLst/>
          </a:prstGeom>
          <a:solidFill>
            <a:srgbClr val="2D6CD7"/>
          </a:solidFill>
          <a:ln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840" y="5445252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53328" y="5445252"/>
            <a:ext cx="42519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90" b="1">
                <a:solidFill>
                  <a:srgbClr val="F5F7FA"/>
                </a:solidFill>
              </a:rPr>
              <a:t>Persistence / replay / debugging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" y="5998464"/>
            <a:ext cx="10168128" cy="621792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14400" y="6172200"/>
            <a:ext cx="1051560" cy="256032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00" b="1">
                <a:solidFill>
                  <a:srgbClr val="F5F7FA"/>
                </a:solidFill>
              </a:rPr>
              <a:t>Think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148840" y="6172200"/>
            <a:ext cx="1051560" cy="256032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00" b="1">
                <a:solidFill>
                  <a:srgbClr val="F5F7FA"/>
                </a:solidFill>
              </a:rPr>
              <a:t>Act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383280" y="6172200"/>
            <a:ext cx="1051560" cy="256032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00" b="1">
                <a:solidFill>
                  <a:srgbClr val="F5F7FA"/>
                </a:solidFill>
              </a:rPr>
              <a:t>Adapt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" y="6455664"/>
            <a:ext cx="338328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1">
                <a:solidFill>
                  <a:srgbClr val="57E1FF"/>
                </a:solidFill>
              </a:rPr>
              <a:t>Agentic AI = inner intelligence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46520" y="6172200"/>
            <a:ext cx="1051560" cy="25603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00" b="1">
                <a:solidFill>
                  <a:srgbClr val="F5F7FA"/>
                </a:solidFill>
              </a:rPr>
              <a:t>Tools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680960" y="6172200"/>
            <a:ext cx="1051560" cy="256032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00" b="1">
                <a:solidFill>
                  <a:srgbClr val="F5F7FA"/>
                </a:solidFill>
              </a:rPr>
              <a:t>Memory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15400" y="6172200"/>
            <a:ext cx="1051560" cy="256032"/>
          </a:xfrm>
          <a:prstGeom prst="roundRect">
            <a:avLst/>
          </a:prstGeom>
          <a:solidFill>
            <a:srgbClr val="F55C78"/>
          </a:solidFill>
          <a:ln w="12700">
            <a:solidFill>
              <a:srgbClr val="F5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000" b="1">
                <a:solidFill>
                  <a:srgbClr val="F5F7FA"/>
                </a:solidFill>
              </a:rPr>
              <a:t>Controls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46520" y="6455664"/>
            <a:ext cx="3611880" cy="1097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80" b="1">
                <a:solidFill>
                  <a:srgbClr val="57E1FF"/>
                </a:solidFill>
              </a:rPr>
              <a:t>Harness Engineering = outer runtime system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84248" y="6172200"/>
            <a:ext cx="137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57E1FF"/>
                </a:solidFill>
              </a:rPr>
              <a:t>→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18688" y="6172200"/>
            <a:ext cx="137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57E1FF"/>
                </a:solidFill>
              </a:rPr>
              <a:t>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16368" y="6172200"/>
            <a:ext cx="137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57E1FF"/>
                </a:solidFill>
              </a:rPr>
              <a:t>→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50808" y="6172200"/>
            <a:ext cx="137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57E1FF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8686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</a:rPr>
              <a:t>Example: Autonomous Driving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14400"/>
            <a:ext cx="9784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A simple analogy to separate agentic intelligence from harness engineering.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16736"/>
            <a:ext cx="123444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3200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64208"/>
            <a:ext cx="5074920" cy="4526280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89320" y="1664208"/>
            <a:ext cx="4983480" cy="4526280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20240"/>
            <a:ext cx="34747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57E1FF"/>
                </a:solidFill>
              </a:rPr>
              <a:t>Agentic AI = the driving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920240"/>
            <a:ext cx="38404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57E1FF"/>
                </a:solidFill>
              </a:rPr>
              <a:t>Harness Engineering = the surrounding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340864"/>
            <a:ext cx="4251960" cy="1627632"/>
          </a:xfrm>
          <a:prstGeom prst="roundRect">
            <a:avLst/>
          </a:prstGeom>
          <a:solidFill>
            <a:srgbClr val="0A1A37"/>
          </a:solidFill>
          <a:ln w="1397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28016" tIns="146304"/>
          <a:lstStyle/>
          <a:p>
            <a:pPr algn="l"/>
            <a:r>
              <a:rPr sz="1600" b="1">
                <a:solidFill>
                  <a:srgbClr val="F5F7FA"/>
                </a:solidFill>
                <a:latin typeface="Courier New"/>
              </a:rPr>
              <a:t>The AI deciding:</a:t>
            </a:r>
          </a:p>
          <a:p>
            <a:pPr algn="l"/>
            <a:r>
              <a:rPr sz="1500">
                <a:solidFill>
                  <a:srgbClr val="F5F7FA"/>
                </a:solidFill>
                <a:latin typeface="Courier New"/>
              </a:rPr>
              <a:t/>
            </a:r>
          </a:p>
          <a:p>
            <a:pPr algn="l"/>
            <a:r>
              <a:rPr sz="1500">
                <a:solidFill>
                  <a:srgbClr val="F5F7FA"/>
                </a:solidFill>
                <a:latin typeface="Courier New"/>
              </a:rPr>
              <a:t>car ahead</a:t>
            </a:r>
          </a:p>
          <a:p>
            <a:pPr algn="l"/>
            <a:r>
              <a:rPr sz="1500">
                <a:solidFill>
                  <a:srgbClr val="F5F7FA"/>
                </a:solidFill>
                <a:latin typeface="Courier New"/>
              </a:rPr>
              <a:t>→ slow down</a:t>
            </a:r>
          </a:p>
          <a:p>
            <a:pPr algn="l"/>
            <a:r>
              <a:rPr sz="1500">
                <a:solidFill>
                  <a:srgbClr val="F5F7FA"/>
                </a:solidFill>
                <a:latin typeface="Courier New"/>
              </a:rPr>
              <a:t>→ change lane</a:t>
            </a:r>
          </a:p>
          <a:p>
            <a:pPr algn="l"/>
            <a:r>
              <a:rPr sz="1500">
                <a:solidFill>
                  <a:srgbClr val="F5F7FA"/>
                </a:solidFill>
                <a:latin typeface="Courier New"/>
              </a:rPr>
              <a:t>→ accelerate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160520"/>
            <a:ext cx="42062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</a:rPr>
              <a:t>This is the agentic intelligence: reasoning about the situation and choosing the next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0432" y="5047488"/>
            <a:ext cx="3794760" cy="640080"/>
          </a:xfrm>
          <a:prstGeom prst="roundRect">
            <a:avLst/>
          </a:prstGeom>
          <a:solidFill>
            <a:srgbClr val="08162D"/>
          </a:solidFill>
          <a:ln w="1270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17320" y="5340096"/>
            <a:ext cx="329184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45920" y="5175504"/>
            <a:ext cx="713232" cy="310896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5F7FA"/>
                </a:solidFill>
              </a:rPr>
              <a:t>AI Car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5175504"/>
            <a:ext cx="713232" cy="310896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800" b="1">
                <a:solidFill>
                  <a:srgbClr val="F5F7FA"/>
                </a:solidFill>
              </a:rPr>
              <a:t>Car ahead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77440" y="5330952"/>
            <a:ext cx="1078992" cy="0"/>
          </a:xfrm>
          <a:prstGeom prst="line">
            <a:avLst/>
          </a:prstGeom>
          <a:ln w="2540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542032" y="4882896"/>
            <a:ext cx="914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7E1FF"/>
                </a:solidFill>
              </a:rPr>
              <a:t>decide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2395728"/>
            <a:ext cx="1938528" cy="384048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Sensors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85632" y="2395728"/>
            <a:ext cx="1938528" cy="384048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Control loop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3054096"/>
            <a:ext cx="1938528" cy="384048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Permissions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85632" y="3054096"/>
            <a:ext cx="1938528" cy="384048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Safety systems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91072" y="3712464"/>
            <a:ext cx="1938528" cy="384048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State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85632" y="3712464"/>
            <a:ext cx="1938528" cy="384048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Telemetry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370832"/>
            <a:ext cx="1938528" cy="384048"/>
          </a:xfrm>
          <a:prstGeom prst="roundRect">
            <a:avLst/>
          </a:prstGeom>
          <a:solidFill>
            <a:srgbClr val="F55C78"/>
          </a:solidFill>
          <a:ln w="12700">
            <a:solidFill>
              <a:srgbClr val="F5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Fallbacks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85632" y="4370832"/>
            <a:ext cx="1938528" cy="384048"/>
          </a:xfrm>
          <a:prstGeom prst="roundRect">
            <a:avLst/>
          </a:prstGeom>
          <a:solidFill>
            <a:srgbClr val="E2AE3B"/>
          </a:solidFill>
          <a:ln w="12700">
            <a:solidFill>
              <a:srgbClr val="E2A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Logging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5138928"/>
            <a:ext cx="427939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</a:rPr>
              <a:t>These are the harness pieces: the runtime controls that make the driving agent safe, observable, recoverable, and reliable.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6291072"/>
            <a:ext cx="10314432" cy="393192"/>
          </a:xfrm>
          <a:prstGeom prst="roundRect">
            <a:avLst/>
          </a:prstGeom>
          <a:solidFill>
            <a:srgbClr val="11264D"/>
          </a:solidFill>
          <a:ln w="1651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373368"/>
            <a:ext cx="978408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57E1FF"/>
                </a:solidFill>
              </a:rPr>
              <a:t>Takeaway: Agentic AI decides what to do. Harness Engineering makes that decision safe, controlled, logged, recoverable, and production-ready.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5669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</a:rPr>
              <a:t>Loop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14400"/>
            <a:ext cx="8961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Designing the repeated cycle that keeps an agent working until it succeeds or safely stops.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16736"/>
            <a:ext cx="132588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3200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00784"/>
            <a:ext cx="4160520" cy="4434840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29260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57E1FF"/>
                </a:solidFill>
              </a:rPr>
              <a:t>What is Loop Engineering?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487168"/>
            <a:ext cx="457200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6888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1">
                <a:solidFill>
                  <a:srgbClr val="F5F7FA"/>
                </a:solidFill>
              </a:rPr>
              <a:t>Defines the agent cycle: observe, reason, plan, act, evaluate.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456432"/>
            <a:ext cx="457200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38144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1">
                <a:solidFill>
                  <a:srgbClr val="F5F7FA"/>
                </a:solidFill>
              </a:rPr>
              <a:t>Controls retries, state updates, tool calls, and stopping conditions.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25696"/>
            <a:ext cx="457200" cy="34747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F5F7FA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07408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0" b="1">
                <a:solidFill>
                  <a:srgbClr val="F5F7FA"/>
                </a:solidFill>
              </a:rPr>
              <a:t>Turns a one-shot LLM call into a reliable iterative workflow.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32704"/>
            <a:ext cx="3429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57E1FF"/>
                </a:solidFill>
              </a:rPr>
              <a:t>Core question: How does the agent keep working?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1700784"/>
            <a:ext cx="5989320" cy="4434840"/>
          </a:xfrm>
          <a:prstGeom prst="roundRect">
            <a:avLst/>
          </a:prstGeom>
          <a:solidFill>
            <a:srgbClr val="11264D"/>
          </a:solidFill>
          <a:ln w="1905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1938528"/>
            <a:ext cx="4023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57E1FF"/>
                </a:solidFill>
              </a:rPr>
              <a:t>How the loop works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2240" y="2788920"/>
            <a:ext cx="1005839" cy="0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156448" y="2788920"/>
            <a:ext cx="877824" cy="0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528048" y="3108960"/>
            <a:ext cx="0" cy="822960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156448" y="4279392"/>
            <a:ext cx="877824" cy="0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492240" y="4279392"/>
            <a:ext cx="1005839" cy="0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144768" y="3108960"/>
            <a:ext cx="0" cy="822960"/>
          </a:xfrm>
          <a:prstGeom prst="line">
            <a:avLst/>
          </a:prstGeom>
          <a:ln w="2794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772400" y="4526280"/>
            <a:ext cx="0" cy="557784"/>
          </a:xfrm>
          <a:prstGeom prst="line">
            <a:avLst/>
          </a:prstGeom>
          <a:ln w="25400">
            <a:solidFill>
              <a:srgbClr val="5BC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829800" y="4434840"/>
            <a:ext cx="301752" cy="548640"/>
          </a:xfrm>
          <a:prstGeom prst="line">
            <a:avLst/>
          </a:prstGeom>
          <a:ln w="25400">
            <a:solidFill>
              <a:srgbClr val="EBB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6629400" y="4590288"/>
            <a:ext cx="1143000" cy="859536"/>
          </a:xfrm>
          <a:prstGeom prst="line">
            <a:avLst/>
          </a:prstGeom>
          <a:ln w="25400">
            <a:solidFill>
              <a:srgbClr val="5BC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669280" y="2487168"/>
            <a:ext cx="896112" cy="566928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Observe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60920" y="2487168"/>
            <a:ext cx="896112" cy="566928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Reason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2487168"/>
            <a:ext cx="896112" cy="566928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06840" y="3986784"/>
            <a:ext cx="896112" cy="566928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60920" y="3986784"/>
            <a:ext cx="896112" cy="566928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Evaluate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0" y="3986784"/>
            <a:ext cx="896112" cy="566928"/>
          </a:xfrm>
          <a:prstGeom prst="roundRect">
            <a:avLst/>
          </a:prstGeom>
          <a:solidFill>
            <a:srgbClr val="F55C78"/>
          </a:solidFill>
          <a:ln w="12700">
            <a:solidFill>
              <a:srgbClr val="F5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F5F7FA"/>
                </a:solidFill>
              </a:rPr>
              <a:t>Update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14032" y="3200400"/>
            <a:ext cx="1417320" cy="658368"/>
          </a:xfrm>
          <a:prstGeom prst="roundRect">
            <a:avLst/>
          </a:prstGeom>
          <a:solidFill>
            <a:srgbClr val="0A1A37"/>
          </a:solidFill>
          <a:ln w="1524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50" b="1">
                <a:solidFill>
                  <a:srgbClr val="F5F7FA"/>
                </a:solidFill>
              </a:rPr>
              <a:t>Loop State</a:t>
            </a:r>
          </a:p>
          <a:p>
            <a:pPr algn="ctr"/>
            <a:r>
              <a:rPr sz="1050" b="1">
                <a:solidFill>
                  <a:srgbClr val="F5F7FA"/>
                </a:solidFill>
              </a:rPr>
              <a:t>memory + progress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67728" y="5084064"/>
            <a:ext cx="1572768" cy="402336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F5F7FA"/>
                </a:solidFill>
              </a:rPr>
              <a:t>Save state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28048" y="4983480"/>
            <a:ext cx="1078992" cy="475488"/>
          </a:xfrm>
          <a:prstGeom prst="roundRect">
            <a:avLst/>
          </a:prstGeom>
          <a:solidFill>
            <a:srgbClr val="EBBE4A"/>
          </a:solidFill>
          <a:ln w="12700">
            <a:solidFill>
              <a:srgbClr val="EB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50" b="1">
                <a:solidFill>
                  <a:srgbClr val="F5F7FA"/>
                </a:solidFill>
              </a:rPr>
              <a:t>Stop /</a:t>
            </a:r>
          </a:p>
          <a:p>
            <a:pPr algn="ctr"/>
            <a:r>
              <a:rPr sz="1050" b="1">
                <a:solidFill>
                  <a:srgbClr val="F5F7FA"/>
                </a:solidFill>
              </a:rPr>
              <a:t>Continue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4416" y="5705856"/>
            <a:ext cx="48920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19" b="0">
                <a:solidFill>
                  <a:srgbClr val="B8C6DD"/>
                </a:solidFill>
              </a:rPr>
              <a:t>Repeat until success, failure, budget limit, or human approval requirement.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028"/>
          </a:solidFill>
          <a:ln>
            <a:solidFill>
              <a:srgbClr val="031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15600" y="228600"/>
            <a:ext cx="2286000" cy="1828800"/>
          </a:xfrm>
          <a:prstGeom prst="arc">
            <a:avLst/>
          </a:prstGeom>
          <a:noFill/>
          <a:ln w="27940">
            <a:solidFill>
              <a:srgbClr val="695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10607040" y="685800"/>
            <a:ext cx="1645920" cy="1463040"/>
          </a:xfrm>
          <a:prstGeom prst="arc">
            <a:avLst/>
          </a:prstGeom>
          <a:noFill/>
          <a:ln w="27940"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4048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</a:rPr>
              <a:t>Tokenomics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914400"/>
            <a:ext cx="87782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8C6DD"/>
                </a:solidFill>
              </a:rPr>
              <a:t>How token usage drives cost, latency, context limits, and design trade-offs in LLM and agent systems.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316736"/>
            <a:ext cx="1234440" cy="27432"/>
          </a:xfrm>
          <a:prstGeom prst="rect">
            <a:avLst/>
          </a:prstGeom>
          <a:solidFill>
            <a:srgbClr val="57E1FF"/>
          </a:solidFill>
          <a:ln>
            <a:solidFill>
              <a:srgbClr val="57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45952" y="6419088"/>
            <a:ext cx="32918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D"/>
                </a:solidFill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64208"/>
            <a:ext cx="3886200" cy="4498848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83664"/>
            <a:ext cx="20116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57E1FF"/>
                </a:solidFill>
              </a:rPr>
              <a:t>What is Tokenomics?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12848"/>
            <a:ext cx="3246120" cy="2176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F5F7FA"/>
                </a:solidFill>
              </a:rPr>
              <a:t>• Tokenomics is the practical economics of tokens in an AI system.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5F7FA"/>
                </a:solidFill>
              </a:rPr>
              <a:t>• It explains how prompt size, chat history, retrieval results, tool output, and model completion affect cost and latency.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F5F7FA"/>
                </a:solidFill>
              </a:rPr>
              <a:t>• It also determines how much context fits into the model window before you must trim, summarize, or chunk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4809744"/>
            <a:ext cx="3429000" cy="548640"/>
          </a:xfrm>
          <a:prstGeom prst="roundRect">
            <a:avLst/>
          </a:prstGeom>
          <a:solidFill>
            <a:srgbClr val="0A1A37"/>
          </a:solidFill>
          <a:ln w="1270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200" b="1">
                <a:solidFill>
                  <a:srgbClr val="57E1FF"/>
                </a:solidFill>
              </a:rPr>
              <a:t>Input tokens + Output tokens + Repeated calls = More cost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5504688"/>
            <a:ext cx="868680" cy="310896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75104" y="5504688"/>
            <a:ext cx="868680" cy="310896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Latency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5504688"/>
            <a:ext cx="960120" cy="310896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664208"/>
            <a:ext cx="6053328" cy="4498848"/>
          </a:xfrm>
          <a:prstGeom prst="roundRect">
            <a:avLst/>
          </a:prstGeom>
          <a:solidFill>
            <a:srgbClr val="11264D"/>
          </a:solidFill>
          <a:ln w="1778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4" y="1883664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57E1FF"/>
                </a:solidFill>
              </a:rPr>
              <a:t>How it works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2340864"/>
            <a:ext cx="1170432" cy="530352"/>
          </a:xfrm>
          <a:prstGeom prst="roundRect">
            <a:avLst/>
          </a:prstGeom>
          <a:solidFill>
            <a:srgbClr val="7E6EFF"/>
          </a:solidFill>
          <a:ln w="12700">
            <a:solidFill>
              <a:srgbClr val="7E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System</a:t>
            </a:r>
          </a:p>
          <a:p>
            <a:pPr algn="ctr"/>
            <a:r>
              <a:rPr sz="1100" b="1">
                <a:solidFill>
                  <a:srgbClr val="F5F7FA"/>
                </a:solidFill>
              </a:rPr>
              <a:t>Prompt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2340864"/>
            <a:ext cx="1170432" cy="530352"/>
          </a:xfrm>
          <a:prstGeom prst="roundRect">
            <a:avLst/>
          </a:prstGeom>
          <a:solidFill>
            <a:srgbClr val="4C7FFF"/>
          </a:solidFill>
          <a:ln w="12700">
            <a:solidFill>
              <a:srgbClr val="4C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History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0416" y="2340864"/>
            <a:ext cx="1170432" cy="530352"/>
          </a:xfrm>
          <a:prstGeom prst="roundRect">
            <a:avLst/>
          </a:prstGeom>
          <a:solidFill>
            <a:srgbClr val="3FB9C6"/>
          </a:solidFill>
          <a:ln w="12700">
            <a:solidFill>
              <a:srgbClr val="3FB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RAG / Tool</a:t>
            </a:r>
          </a:p>
          <a:p>
            <a:pPr algn="ctr"/>
            <a:r>
              <a:rPr sz="1100" b="1">
                <a:solidFill>
                  <a:srgbClr val="F5F7FA"/>
                </a:solidFill>
              </a:rPr>
              <a:t>Output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4808" y="3072384"/>
            <a:ext cx="1325880" cy="420624"/>
          </a:xfrm>
          <a:prstGeom prst="roundRect">
            <a:avLst/>
          </a:prstGeom>
          <a:solidFill>
            <a:srgbClr val="0A1A37"/>
          </a:solidFill>
          <a:ln w="1270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57E1FF"/>
                </a:solidFill>
              </a:rPr>
              <a:t>Token Budget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37376" y="3675887"/>
            <a:ext cx="1389888" cy="658368"/>
          </a:xfrm>
          <a:prstGeom prst="roundRect">
            <a:avLst/>
          </a:prstGeom>
          <a:solidFill>
            <a:srgbClr val="5BC99F"/>
          </a:solidFill>
          <a:ln w="12700">
            <a:solidFill>
              <a:srgbClr val="5BC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400" b="1">
                <a:solidFill>
                  <a:srgbClr val="F5F7FA"/>
                </a:solidFill>
              </a:rPr>
              <a:t>LLM Call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98864" y="3749039"/>
            <a:ext cx="1170432" cy="512064"/>
          </a:xfrm>
          <a:prstGeom prst="roundRect">
            <a:avLst/>
          </a:prstGeom>
          <a:solidFill>
            <a:srgbClr val="F4B44C"/>
          </a:solidFill>
          <a:ln w="12700">
            <a:solidFill>
              <a:srgbClr val="F4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Answer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98864" y="4645152"/>
            <a:ext cx="1170432" cy="512064"/>
          </a:xfrm>
          <a:prstGeom prst="roundRect">
            <a:avLst/>
          </a:prstGeom>
          <a:solidFill>
            <a:srgbClr val="E85D75"/>
          </a:solidFill>
          <a:ln w="12700">
            <a:solidFill>
              <a:srgbClr val="E85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Cost /</a:t>
            </a:r>
          </a:p>
          <a:p>
            <a:pPr algn="ctr"/>
            <a:r>
              <a:rPr sz="1100" b="1">
                <a:solidFill>
                  <a:srgbClr val="F5F7FA"/>
                </a:solidFill>
              </a:rPr>
              <a:t>Latency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38928" y="4663440"/>
            <a:ext cx="1417320" cy="512064"/>
          </a:xfrm>
          <a:prstGeom prst="roundRect">
            <a:avLst/>
          </a:prstGeom>
          <a:solidFill>
            <a:srgbClr val="F55C78"/>
          </a:solidFill>
          <a:ln w="12700">
            <a:solidFill>
              <a:srgbClr val="F5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/>
          <a:lstStyle/>
          <a:p>
            <a:pPr algn="ctr"/>
            <a:r>
              <a:rPr sz="1100" b="1">
                <a:solidFill>
                  <a:srgbClr val="F5F7FA"/>
                </a:solidFill>
              </a:rPr>
              <a:t>Trim / Summarize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60720" y="2871216"/>
            <a:ext cx="841248" cy="411480"/>
          </a:xfrm>
          <a:prstGeom prst="line">
            <a:avLst/>
          </a:prstGeom>
          <a:ln w="2540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23176" y="2871216"/>
            <a:ext cx="0" cy="201168"/>
          </a:xfrm>
          <a:prstGeom prst="line">
            <a:avLst/>
          </a:prstGeom>
          <a:ln w="2540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7644383" y="2871216"/>
            <a:ext cx="841249" cy="411480"/>
          </a:xfrm>
          <a:prstGeom prst="line">
            <a:avLst/>
          </a:prstGeom>
          <a:ln w="2540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123176" y="3493008"/>
            <a:ext cx="0" cy="182879"/>
          </a:xfrm>
          <a:prstGeom prst="line">
            <a:avLst/>
          </a:prstGeom>
          <a:ln w="2540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827264" y="4005072"/>
            <a:ext cx="1371600" cy="0"/>
          </a:xfrm>
          <a:prstGeom prst="line">
            <a:avLst/>
          </a:prstGeom>
          <a:ln w="2540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79792" y="4334256"/>
            <a:ext cx="1719072" cy="548640"/>
          </a:xfrm>
          <a:prstGeom prst="line">
            <a:avLst/>
          </a:prstGeom>
          <a:ln w="2540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5852160" y="4334256"/>
            <a:ext cx="585216" cy="329184"/>
          </a:xfrm>
          <a:prstGeom prst="line">
            <a:avLst/>
          </a:prstGeom>
          <a:ln w="2540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833872" y="4663440"/>
            <a:ext cx="0" cy="512064"/>
          </a:xfrm>
          <a:prstGeom prst="line">
            <a:avLst/>
          </a:prstGeom>
          <a:ln w="25400">
            <a:solidFill>
              <a:srgbClr val="57E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74920" y="5376672"/>
            <a:ext cx="5394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F5F7FA"/>
                </a:solidFill>
              </a:rPr>
              <a:t>More context improves answers, but also increases tokens. When the budget is too high, you trim, summarize, chunk, or reduce loop steps.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6272784"/>
            <a:ext cx="10149840" cy="310896"/>
          </a:xfrm>
          <a:prstGeom prst="roundRect">
            <a:avLst/>
          </a:prstGeom>
          <a:solidFill>
            <a:srgbClr val="0A1A37"/>
          </a:solidFill>
          <a:ln w="15240">
            <a:solidFill>
              <a:srgbClr val="2D6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6309360"/>
            <a:ext cx="969264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19" b="1">
                <a:solidFill>
                  <a:srgbClr val="57E1FF"/>
                </a:solidFill>
              </a:rPr>
              <a:t>Design goal: spend tokens where they create value — concise prompts, selective memory, focused retrieval, and controlled loop depth.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